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Inter Bold"/>
      <p:regular r:id="rId201314"/>
    </p:embeddedFont>
    <p:embeddedFont>
      <p:font typeface="Inter"/>
      <p:regular r:id="rId201315"/>
    </p:embeddedFont>
    <p:embeddedFont>
      <p:font typeface="Inter Black"/>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4F4"/>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370474" y="565646"/>
            <a:ext cx="10159746" cy="3384550"/>
          </a:xfrm>
          <a:prstGeom prst="rect">
            <a:avLst/>
          </a:prstGeom>
        </p:spPr>
      </p:pic>
      <p:sp>
        <p:nvSpPr>
          <p:cNvPr id="3" name="Text 0"/>
          <p:cNvSpPr/>
          <p:nvPr/>
        </p:nvSpPr>
        <p:spPr>
          <a:xfrm>
            <a:off x="2196053" y="4206081"/>
            <a:ext cx="7799589" cy="561181"/>
          </a:xfrm>
          <a:prstGeom prst="rect">
            <a:avLst/>
          </a:prstGeom>
          <a:noFill/>
          <a:ln/>
        </p:spPr>
        <p:txBody>
          <a:bodyPr wrap="none" lIns="0" tIns="0" rIns="0" bIns="0" rtlCol="0" anchor="t"/>
          <a:lstStyle/>
          <a:p>
            <a:pPr algn="ctr" indent="0" marL="0">
              <a:lnSpc>
                <a:spcPct val="104000"/>
              </a:lnSpc>
              <a:buNone/>
            </a:pPr>
            <a:r>
              <a:rPr lang="en-US" sz="3500" b="1" dirty="0">
                <a:solidFill>
                  <a:srgbClr val="0066CC"/>
                </a:solidFill>
                <a:latin typeface="Inter Bold" pitchFamily="34" charset="0"/>
                <a:ea typeface="Inter Bold" pitchFamily="34" charset="-122"/>
                <a:cs typeface="Inter Bold" pitchFamily="34" charset="-120"/>
              </a:rPr>
              <a:t>Bluestock Mutual Fund Analytics</a:t>
            </a:r>
            <a:endParaRPr lang="en-US" sz="3500" dirty="0"/>
          </a:p>
        </p:txBody>
      </p:sp>
      <p:sp>
        <p:nvSpPr>
          <p:cNvPr id="4" name="Text 1"/>
          <p:cNvSpPr/>
          <p:nvPr/>
        </p:nvSpPr>
        <p:spPr>
          <a:xfrm>
            <a:off x="3136325" y="4835426"/>
            <a:ext cx="5918945" cy="448965"/>
          </a:xfrm>
          <a:prstGeom prst="rect">
            <a:avLst/>
          </a:prstGeom>
          <a:noFill/>
          <a:ln/>
        </p:spPr>
        <p:txBody>
          <a:bodyPr wrap="none" lIns="0" tIns="0" rIns="0" bIns="0" rtlCol="0" anchor="t"/>
          <a:lstStyle/>
          <a:p>
            <a:pPr algn="ctr" indent="0" marL="0">
              <a:lnSpc>
                <a:spcPct val="104000"/>
              </a:lnSpc>
              <a:buNone/>
            </a:pPr>
            <a:r>
              <a:rPr lang="en-US" sz="2800" b="1" dirty="0">
                <a:solidFill>
                  <a:srgbClr val="00AA44"/>
                </a:solidFill>
                <a:latin typeface="Inter Bold" pitchFamily="34" charset="0"/>
                <a:ea typeface="Inter Bold" pitchFamily="34" charset="-122"/>
                <a:cs typeface="Inter Bold" pitchFamily="34" charset="-120"/>
              </a:rPr>
              <a:t>Executive Summary &amp; Insights</a:t>
            </a:r>
            <a:endParaRPr lang="en-US" sz="2800" dirty="0"/>
          </a:p>
        </p:txBody>
      </p:sp>
      <p:sp>
        <p:nvSpPr>
          <p:cNvPr id="5" name="Text 2"/>
          <p:cNvSpPr/>
          <p:nvPr/>
        </p:nvSpPr>
        <p:spPr>
          <a:xfrm>
            <a:off x="661475" y="5540276"/>
            <a:ext cx="10868745" cy="752078"/>
          </a:xfrm>
          <a:prstGeom prst="rect">
            <a:avLst/>
          </a:prstGeom>
          <a:noFill/>
          <a:ln/>
        </p:spPr>
        <p:txBody>
          <a:bodyPr wrap="square" lIns="0" tIns="0" rIns="0" bIns="0" rtlCol="0" anchor="t"/>
          <a:lstStyle/>
          <a:p>
            <a:pPr algn="ctr" indent="0" marL="0">
              <a:lnSpc>
                <a:spcPct val="130000"/>
              </a:lnSpc>
              <a:spcAft>
                <a:spcPts val="1500"/>
              </a:spcAft>
              <a:buNone/>
            </a:pPr>
            <a:r>
              <a:rPr lang="en-US" sz="1400" dirty="0">
                <a:solidFill>
                  <a:srgbClr val="272525"/>
                </a:solidFill>
                <a:latin typeface="Inter" pitchFamily="34" charset="0"/>
                <a:ea typeface="Inter" pitchFamily="34" charset="-122"/>
                <a:cs typeface="Inter" pitchFamily="34" charset="-120"/>
              </a:rPr>
              <a:t>Comprehensive analysis of fund performance, investor behavior, and portfolio risk metrics</a:t>
            </a:r>
            <a:endParaRPr lang="en-US" sz="1400" dirty="0"/>
          </a:p>
          <a:p>
            <a:pPr algn="ctr" indent="0" marL="0">
              <a:lnSpc>
                <a:spcPct val="130000"/>
              </a:lnSpc>
              <a:buNone/>
            </a:pPr>
            <a:r>
              <a:rPr lang="en-US" sz="1400" dirty="0">
                <a:solidFill>
                  <a:srgbClr val="272525"/>
                </a:solidFill>
                <a:latin typeface="Inter" pitchFamily="34" charset="0"/>
                <a:ea typeface="Inter" pitchFamily="34" charset="-122"/>
                <a:cs typeface="Inter" pitchFamily="34" charset="-120"/>
              </a:rPr>
              <a:t>Data-driven analysis of portfolio composition, investor activity, and fund performance metrics.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1455837"/>
            <a:ext cx="8185739" cy="590649"/>
          </a:xfrm>
          <a:prstGeom prst="rect">
            <a:avLst/>
          </a:prstGeom>
          <a:noFill/>
          <a:ln/>
        </p:spPr>
        <p:txBody>
          <a:bodyPr wrap="none" lIns="0" tIns="0" rIns="0" bIns="0" rtlCol="0" anchor="t"/>
          <a:lstStyle/>
          <a:p>
            <a:pPr algn="l" indent="0" marL="0">
              <a:lnSpc>
                <a:spcPct val="104000"/>
              </a:lnSpc>
              <a:buNone/>
            </a:pPr>
            <a:r>
              <a:rPr lang="en-US" sz="3700" b="1" dirty="0">
                <a:solidFill>
                  <a:srgbClr val="0066CC"/>
                </a:solidFill>
                <a:latin typeface="Inter Bold" pitchFamily="34" charset="0"/>
                <a:ea typeface="Inter Bold" pitchFamily="34" charset="-122"/>
                <a:cs typeface="Inter Bold" pitchFamily="34" charset="-120"/>
              </a:rPr>
              <a:t>Portfolio Overview &amp; Key Metrics</a:t>
            </a:r>
            <a:endParaRPr lang="en-US" sz="3700" dirty="0"/>
          </a:p>
        </p:txBody>
      </p:sp>
      <p:sp>
        <p:nvSpPr>
          <p:cNvPr id="3" name="Text 1"/>
          <p:cNvSpPr/>
          <p:nvPr/>
        </p:nvSpPr>
        <p:spPr>
          <a:xfrm>
            <a:off x="661475" y="2122091"/>
            <a:ext cx="9665153" cy="472480"/>
          </a:xfrm>
          <a:prstGeom prst="rect">
            <a:avLst/>
          </a:prstGeom>
          <a:noFill/>
          <a:ln/>
        </p:spPr>
        <p:txBody>
          <a:bodyPr wrap="none" lIns="0" tIns="0" rIns="0" bIns="0" rtlCol="0" anchor="t"/>
          <a:lstStyle/>
          <a:p>
            <a:pPr algn="l" indent="0" marL="0">
              <a:lnSpc>
                <a:spcPct val="104000"/>
              </a:lnSpc>
              <a:buNone/>
            </a:pPr>
            <a:r>
              <a:rPr lang="en-US" sz="2950" b="1" dirty="0">
                <a:solidFill>
                  <a:srgbClr val="00AA44"/>
                </a:solidFill>
                <a:latin typeface="Inter Bold" pitchFamily="34" charset="0"/>
                <a:ea typeface="Inter Bold" pitchFamily="34" charset="-122"/>
                <a:cs typeface="Inter Bold" pitchFamily="34" charset="-120"/>
              </a:rPr>
              <a:t>Comprehensive fund house and scheme analysis</a:t>
            </a:r>
            <a:endParaRPr lang="en-US" sz="2950" dirty="0"/>
          </a:p>
        </p:txBody>
      </p:sp>
      <p:sp>
        <p:nvSpPr>
          <p:cNvPr id="4" name="Shape 2"/>
          <p:cNvSpPr/>
          <p:nvPr/>
        </p:nvSpPr>
        <p:spPr>
          <a:xfrm>
            <a:off x="661475" y="2878038"/>
            <a:ext cx="2575357" cy="1101824"/>
          </a:xfrm>
          <a:prstGeom prst="roundRect">
            <a:avLst>
              <a:gd name="adj" fmla="val 7205"/>
            </a:avLst>
          </a:prstGeom>
          <a:solidFill>
            <a:srgbClr val="0066CC"/>
          </a:solidFill>
          <a:ln w="6350">
            <a:solidFill>
              <a:srgbClr val="197FE5"/>
            </a:solidFill>
            <a:prstDash val="solid"/>
          </a:ln>
        </p:spPr>
      </p:sp>
      <p:sp>
        <p:nvSpPr>
          <p:cNvPr id="5" name="Text 3"/>
          <p:cNvSpPr/>
          <p:nvPr/>
        </p:nvSpPr>
        <p:spPr>
          <a:xfrm>
            <a:off x="856832" y="3073400"/>
            <a:ext cx="2184643" cy="295275"/>
          </a:xfrm>
          <a:prstGeom prst="rect">
            <a:avLst/>
          </a:prstGeom>
          <a:noFill/>
          <a:ln/>
        </p:spPr>
        <p:txBody>
          <a:bodyPr wrap="none" lIns="0" tIns="0" rIns="0" bIns="0" rtlCol="0" anchor="t"/>
          <a:lstStyle/>
          <a:p>
            <a:pPr algn="l" indent="0" marL="0">
              <a:lnSpc>
                <a:spcPct val="104000"/>
              </a:lnSpc>
              <a:buNone/>
            </a:pPr>
            <a:r>
              <a:rPr lang="en-US" sz="1850" b="1" dirty="0">
                <a:solidFill>
                  <a:srgbClr val="FFFFFF"/>
                </a:solidFill>
                <a:latin typeface="Inter Bold" pitchFamily="34" charset="0"/>
                <a:ea typeface="Inter Bold" pitchFamily="34" charset="-122"/>
                <a:cs typeface="Inter Bold" pitchFamily="34" charset="-120"/>
              </a:rPr>
              <a:t>Total AUM</a:t>
            </a:r>
            <a:endParaRPr lang="en-US" sz="1850" dirty="0"/>
          </a:p>
        </p:txBody>
      </p:sp>
      <p:sp>
        <p:nvSpPr>
          <p:cNvPr id="6" name="Text 4"/>
          <p:cNvSpPr/>
          <p:nvPr/>
        </p:nvSpPr>
        <p:spPr>
          <a:xfrm>
            <a:off x="856832" y="3482082"/>
            <a:ext cx="2184643" cy="302419"/>
          </a:xfrm>
          <a:prstGeom prst="rect">
            <a:avLst/>
          </a:prstGeom>
          <a:noFill/>
          <a:ln/>
        </p:spPr>
        <p:txBody>
          <a:bodyPr wrap="none" lIns="0" tIns="0" rIns="0" bIns="0" rtlCol="0" anchor="t"/>
          <a:lstStyle/>
          <a:p>
            <a:pPr algn="l" indent="0" marL="0">
              <a:lnSpc>
                <a:spcPct val="133000"/>
              </a:lnSpc>
              <a:buNone/>
            </a:pPr>
            <a:r>
              <a:rPr lang="en-US" sz="1450" dirty="0">
                <a:solidFill>
                  <a:srgbClr val="FFFFFF"/>
                </a:solidFill>
                <a:latin typeface="Inter" pitchFamily="34" charset="0"/>
                <a:ea typeface="Inter" pitchFamily="34" charset="-122"/>
                <a:cs typeface="Inter" pitchFamily="34" charset="-120"/>
              </a:rPr>
              <a:t>₹172.4B</a:t>
            </a:r>
            <a:endParaRPr lang="en-US" sz="1450" dirty="0"/>
          </a:p>
        </p:txBody>
      </p:sp>
      <p:sp>
        <p:nvSpPr>
          <p:cNvPr id="7" name="Shape 5"/>
          <p:cNvSpPr/>
          <p:nvPr/>
        </p:nvSpPr>
        <p:spPr>
          <a:xfrm>
            <a:off x="3425839" y="2878038"/>
            <a:ext cx="2575456" cy="1101824"/>
          </a:xfrm>
          <a:prstGeom prst="roundRect">
            <a:avLst>
              <a:gd name="adj" fmla="val 7205"/>
            </a:avLst>
          </a:prstGeom>
          <a:solidFill>
            <a:srgbClr val="00AA44"/>
          </a:solidFill>
          <a:ln w="6350">
            <a:solidFill>
              <a:srgbClr val="19C35D"/>
            </a:solidFill>
            <a:prstDash val="solid"/>
          </a:ln>
        </p:spPr>
      </p:sp>
      <p:sp>
        <p:nvSpPr>
          <p:cNvPr id="8" name="Text 6"/>
          <p:cNvSpPr/>
          <p:nvPr/>
        </p:nvSpPr>
        <p:spPr>
          <a:xfrm>
            <a:off x="3621195" y="3073400"/>
            <a:ext cx="2184742" cy="295275"/>
          </a:xfrm>
          <a:prstGeom prst="rect">
            <a:avLst/>
          </a:prstGeom>
          <a:noFill/>
          <a:ln/>
        </p:spPr>
        <p:txBody>
          <a:bodyPr wrap="none" lIns="0" tIns="0" rIns="0" bIns="0" rtlCol="0" anchor="t"/>
          <a:lstStyle/>
          <a:p>
            <a:pPr algn="l" indent="0" marL="0">
              <a:lnSpc>
                <a:spcPct val="104000"/>
              </a:lnSpc>
              <a:buNone/>
            </a:pPr>
            <a:r>
              <a:rPr lang="en-US" sz="1850" b="1" dirty="0">
                <a:solidFill>
                  <a:srgbClr val="FFFFFF"/>
                </a:solidFill>
                <a:latin typeface="Inter Bold" pitchFamily="34" charset="0"/>
                <a:ea typeface="Inter Bold" pitchFamily="34" charset="-122"/>
                <a:cs typeface="Inter Bold" pitchFamily="34" charset="-120"/>
              </a:rPr>
              <a:t>SIP Inflows</a:t>
            </a:r>
            <a:endParaRPr lang="en-US" sz="1850" dirty="0"/>
          </a:p>
        </p:txBody>
      </p:sp>
      <p:sp>
        <p:nvSpPr>
          <p:cNvPr id="9" name="Text 7"/>
          <p:cNvSpPr/>
          <p:nvPr/>
        </p:nvSpPr>
        <p:spPr>
          <a:xfrm>
            <a:off x="3621195" y="3482082"/>
            <a:ext cx="2184742" cy="302419"/>
          </a:xfrm>
          <a:prstGeom prst="rect">
            <a:avLst/>
          </a:prstGeom>
          <a:noFill/>
          <a:ln/>
        </p:spPr>
        <p:txBody>
          <a:bodyPr wrap="none" lIns="0" tIns="0" rIns="0" bIns="0" rtlCol="0" anchor="t"/>
          <a:lstStyle/>
          <a:p>
            <a:pPr algn="l" indent="0" marL="0">
              <a:lnSpc>
                <a:spcPct val="133000"/>
              </a:lnSpc>
              <a:buNone/>
            </a:pPr>
            <a:r>
              <a:rPr lang="en-US" sz="1450" dirty="0">
                <a:solidFill>
                  <a:srgbClr val="FFFFFF"/>
                </a:solidFill>
                <a:latin typeface="Inter" pitchFamily="34" charset="0"/>
                <a:ea typeface="Inter" pitchFamily="34" charset="-122"/>
                <a:cs typeface="Inter" pitchFamily="34" charset="-120"/>
              </a:rPr>
              <a:t>₹217.23M</a:t>
            </a:r>
            <a:endParaRPr lang="en-US" sz="1450" dirty="0"/>
          </a:p>
        </p:txBody>
      </p:sp>
      <p:sp>
        <p:nvSpPr>
          <p:cNvPr id="10" name="Shape 8"/>
          <p:cNvSpPr/>
          <p:nvPr/>
        </p:nvSpPr>
        <p:spPr>
          <a:xfrm>
            <a:off x="6190301" y="2878038"/>
            <a:ext cx="2575456" cy="1101824"/>
          </a:xfrm>
          <a:prstGeom prst="roundRect">
            <a:avLst>
              <a:gd name="adj" fmla="val 7205"/>
            </a:avLst>
          </a:prstGeom>
          <a:solidFill>
            <a:srgbClr val="FF9900"/>
          </a:solidFill>
          <a:ln w="6350">
            <a:solidFill>
              <a:srgbClr val="E57F00"/>
            </a:solidFill>
            <a:prstDash val="solid"/>
          </a:ln>
        </p:spPr>
      </p:sp>
      <p:sp>
        <p:nvSpPr>
          <p:cNvPr id="11" name="Text 9"/>
          <p:cNvSpPr/>
          <p:nvPr/>
        </p:nvSpPr>
        <p:spPr>
          <a:xfrm>
            <a:off x="6385658" y="3073400"/>
            <a:ext cx="2184742" cy="295275"/>
          </a:xfrm>
          <a:prstGeom prst="rect">
            <a:avLst/>
          </a:prstGeom>
          <a:noFill/>
          <a:ln/>
        </p:spPr>
        <p:txBody>
          <a:bodyPr wrap="none" lIns="0" tIns="0" rIns="0" bIns="0" rtlCol="0" anchor="t"/>
          <a:lstStyle/>
          <a:p>
            <a:pPr algn="l" indent="0" marL="0">
              <a:lnSpc>
                <a:spcPct val="104000"/>
              </a:lnSpc>
              <a:buNone/>
            </a:pPr>
            <a:r>
              <a:rPr lang="en-US" sz="1850" b="1" dirty="0">
                <a:solidFill>
                  <a:srgbClr val="000000"/>
                </a:solidFill>
                <a:latin typeface="Inter Bold" pitchFamily="34" charset="0"/>
                <a:ea typeface="Inter Bold" pitchFamily="34" charset="-122"/>
                <a:cs typeface="Inter Bold" pitchFamily="34" charset="-120"/>
              </a:rPr>
              <a:t>Total Folios</a:t>
            </a:r>
            <a:endParaRPr lang="en-US" sz="1850" dirty="0"/>
          </a:p>
        </p:txBody>
      </p:sp>
      <p:sp>
        <p:nvSpPr>
          <p:cNvPr id="12" name="Text 10"/>
          <p:cNvSpPr/>
          <p:nvPr/>
        </p:nvSpPr>
        <p:spPr>
          <a:xfrm>
            <a:off x="6385658" y="3482082"/>
            <a:ext cx="2184742" cy="30241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Inter" pitchFamily="34" charset="0"/>
                <a:ea typeface="Inter" pitchFamily="34" charset="-122"/>
                <a:cs typeface="Inter" pitchFamily="34" charset="-120"/>
              </a:rPr>
              <a:t>5K</a:t>
            </a:r>
            <a:endParaRPr lang="en-US" sz="1450" dirty="0"/>
          </a:p>
        </p:txBody>
      </p:sp>
      <p:sp>
        <p:nvSpPr>
          <p:cNvPr id="13" name="Shape 11"/>
          <p:cNvSpPr/>
          <p:nvPr/>
        </p:nvSpPr>
        <p:spPr>
          <a:xfrm>
            <a:off x="8954764" y="2878038"/>
            <a:ext cx="2575456" cy="1101824"/>
          </a:xfrm>
          <a:prstGeom prst="roundRect">
            <a:avLst>
              <a:gd name="adj" fmla="val 7205"/>
            </a:avLst>
          </a:prstGeom>
          <a:solidFill>
            <a:srgbClr val="0066CC"/>
          </a:solidFill>
          <a:ln w="6350">
            <a:solidFill>
              <a:srgbClr val="197FE5"/>
            </a:solidFill>
            <a:prstDash val="solid"/>
          </a:ln>
        </p:spPr>
      </p:sp>
      <p:sp>
        <p:nvSpPr>
          <p:cNvPr id="14" name="Text 12"/>
          <p:cNvSpPr/>
          <p:nvPr/>
        </p:nvSpPr>
        <p:spPr>
          <a:xfrm>
            <a:off x="9150121" y="3073400"/>
            <a:ext cx="2184742" cy="295275"/>
          </a:xfrm>
          <a:prstGeom prst="rect">
            <a:avLst/>
          </a:prstGeom>
          <a:noFill/>
          <a:ln/>
        </p:spPr>
        <p:txBody>
          <a:bodyPr wrap="none" lIns="0" tIns="0" rIns="0" bIns="0" rtlCol="0" anchor="t"/>
          <a:lstStyle/>
          <a:p>
            <a:pPr algn="l" indent="0" marL="0">
              <a:lnSpc>
                <a:spcPct val="104000"/>
              </a:lnSpc>
              <a:buNone/>
            </a:pPr>
            <a:r>
              <a:rPr lang="en-US" sz="1850" b="1" dirty="0">
                <a:solidFill>
                  <a:srgbClr val="FFFFFF"/>
                </a:solidFill>
                <a:latin typeface="Inter Bold" pitchFamily="34" charset="0"/>
                <a:ea typeface="Inter Bold" pitchFamily="34" charset="-122"/>
                <a:cs typeface="Inter Bold" pitchFamily="34" charset="-120"/>
              </a:rPr>
              <a:t>Total Schemes</a:t>
            </a:r>
            <a:endParaRPr lang="en-US" sz="1850" dirty="0"/>
          </a:p>
        </p:txBody>
      </p:sp>
      <p:sp>
        <p:nvSpPr>
          <p:cNvPr id="15" name="Text 13"/>
          <p:cNvSpPr/>
          <p:nvPr/>
        </p:nvSpPr>
        <p:spPr>
          <a:xfrm>
            <a:off x="9150121" y="3482082"/>
            <a:ext cx="2184742" cy="302419"/>
          </a:xfrm>
          <a:prstGeom prst="rect">
            <a:avLst/>
          </a:prstGeom>
          <a:noFill/>
          <a:ln/>
        </p:spPr>
        <p:txBody>
          <a:bodyPr wrap="none" lIns="0" tIns="0" rIns="0" bIns="0" rtlCol="0" anchor="t"/>
          <a:lstStyle/>
          <a:p>
            <a:pPr algn="l" indent="0" marL="0">
              <a:lnSpc>
                <a:spcPct val="133000"/>
              </a:lnSpc>
              <a:buNone/>
            </a:pPr>
            <a:r>
              <a:rPr lang="en-US" sz="1450" dirty="0">
                <a:solidFill>
                  <a:srgbClr val="FFFFFF"/>
                </a:solidFill>
                <a:latin typeface="Inter" pitchFamily="34" charset="0"/>
                <a:ea typeface="Inter" pitchFamily="34" charset="-122"/>
                <a:cs typeface="Inter" pitchFamily="34" charset="-120"/>
              </a:rPr>
              <a:t>40</a:t>
            </a:r>
            <a:endParaRPr lang="en-US" sz="1450" dirty="0"/>
          </a:p>
        </p:txBody>
      </p:sp>
      <p:sp>
        <p:nvSpPr>
          <p:cNvPr id="16" name="Text 14"/>
          <p:cNvSpPr/>
          <p:nvPr/>
        </p:nvSpPr>
        <p:spPr>
          <a:xfrm>
            <a:off x="661475" y="4192488"/>
            <a:ext cx="10868745"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72525"/>
                </a:solidFill>
                <a:latin typeface="Inter" pitchFamily="34" charset="0"/>
                <a:ea typeface="Inter" pitchFamily="34" charset="-122"/>
                <a:cs typeface="Inter" pitchFamily="34" charset="-120"/>
              </a:rPr>
              <a:t>The portfolio comprises 40 schemes across 10 major fund houses, with SBI Mutual Fund commanding 49.3% of total AUM. Strong SIP inflows of ₹217.23M demonstrate consistent investor participation through systematic investment plans, while 5,000 active folios indicate a broad, diversified investor base. This structure reflects a mature, well-established mutual fund ecosystem with significant institutional and retail participation.</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740668"/>
            <a:ext cx="4738371" cy="383977"/>
          </a:xfrm>
          <a:prstGeom prst="rect">
            <a:avLst/>
          </a:prstGeom>
          <a:noFill/>
          <a:ln/>
        </p:spPr>
        <p:txBody>
          <a:bodyPr wrap="none" lIns="0" tIns="0" rIns="0" bIns="0" rtlCol="0" anchor="t"/>
          <a:lstStyle/>
          <a:p>
            <a:pPr algn="l" indent="0" marL="0">
              <a:lnSpc>
                <a:spcPct val="104000"/>
              </a:lnSpc>
              <a:buNone/>
            </a:pPr>
            <a:r>
              <a:rPr lang="en-US" sz="2400" b="1" dirty="0">
                <a:solidFill>
                  <a:srgbClr val="0066CC"/>
                </a:solidFill>
                <a:latin typeface="Inter Bold" pitchFamily="34" charset="0"/>
                <a:ea typeface="Inter Bold" pitchFamily="34" charset="-122"/>
                <a:cs typeface="Inter Bold" pitchFamily="34" charset="-120"/>
              </a:rPr>
              <a:t>SIP Growth &amp; Return Trends</a:t>
            </a:r>
            <a:endParaRPr lang="en-US" sz="2400" dirty="0"/>
          </a:p>
        </p:txBody>
      </p:sp>
      <p:sp>
        <p:nvSpPr>
          <p:cNvPr id="3" name="Text 1"/>
          <p:cNvSpPr/>
          <p:nvPr/>
        </p:nvSpPr>
        <p:spPr>
          <a:xfrm>
            <a:off x="661475" y="1156494"/>
            <a:ext cx="8548474" cy="307181"/>
          </a:xfrm>
          <a:prstGeom prst="rect">
            <a:avLst/>
          </a:prstGeom>
          <a:noFill/>
          <a:ln/>
        </p:spPr>
        <p:txBody>
          <a:bodyPr wrap="none" lIns="0" tIns="0" rIns="0" bIns="0" rtlCol="0" anchor="t"/>
          <a:lstStyle/>
          <a:p>
            <a:pPr algn="l" indent="0" marL="0">
              <a:lnSpc>
                <a:spcPct val="104000"/>
              </a:lnSpc>
              <a:buNone/>
            </a:pPr>
            <a:r>
              <a:rPr lang="en-US" sz="1900" b="1" dirty="0">
                <a:solidFill>
                  <a:srgbClr val="00AA44"/>
                </a:solidFill>
                <a:latin typeface="Inter Bold" pitchFamily="34" charset="0"/>
                <a:ea typeface="Inter Bold" pitchFamily="34" charset="-122"/>
                <a:cs typeface="Inter Bold" pitchFamily="34" charset="-120"/>
              </a:rPr>
              <a:t>Systematic investment plan inflows and annual returns correlation</a:t>
            </a:r>
            <a:endParaRPr lang="en-US" sz="1900" dirty="0"/>
          </a:p>
        </p:txBody>
      </p:sp>
      <p:pic>
        <p:nvPicPr>
          <p:cNvPr id="4" name="Image 0" descr="preencoded.png">    </p:cNvPr>
          <p:cNvPicPr>
            <a:picLocks noChangeAspect="1"/>
          </p:cNvPicPr>
          <p:nvPr/>
        </p:nvPicPr>
        <p:blipFill>
          <a:blip r:embed="rId1"/>
          <a:stretch>
            <a:fillRect/>
          </a:stretch>
        </p:blipFill>
        <p:spPr>
          <a:xfrm>
            <a:off x="661475" y="1583432"/>
            <a:ext cx="7064595" cy="3957737"/>
          </a:xfrm>
          <a:prstGeom prst="rect">
            <a:avLst/>
          </a:prstGeom>
        </p:spPr>
      </p:pic>
      <p:sp>
        <p:nvSpPr>
          <p:cNvPr id="5" name="Text 2"/>
          <p:cNvSpPr/>
          <p:nvPr/>
        </p:nvSpPr>
        <p:spPr>
          <a:xfrm>
            <a:off x="661475" y="5630962"/>
            <a:ext cx="10868745" cy="486370"/>
          </a:xfrm>
          <a:prstGeom prst="rect">
            <a:avLst/>
          </a:prstGeom>
          <a:noFill/>
          <a:ln/>
        </p:spPr>
        <p:txBody>
          <a:bodyPr wrap="square" lIns="0" tIns="0" rIns="0" bIns="0" rtlCol="0" anchor="t">
            <a:normAutofit/>
          </a:bodyPr>
          <a:lstStyle/>
          <a:p>
            <a:pPr algn="l" indent="0" marL="0">
              <a:lnSpc>
                <a:spcPct val="110000"/>
              </a:lnSpc>
              <a:buNone/>
            </a:pPr>
            <a:r>
              <a:rPr lang="en-US" sz="950" dirty="0">
                <a:solidFill>
                  <a:srgbClr val="2F5AA8"/>
                </a:solidFill>
                <a:latin typeface="Inter" pitchFamily="34" charset="0"/>
                <a:ea typeface="Inter" pitchFamily="34" charset="-122"/>
                <a:cs typeface="Inter" pitchFamily="34" charset="-120"/>
              </a:rPr>
              <a:t>SIP inflows demonstrate remarkable consistency across the 2022-2026 period, maintaining approximately ₹0.2bn annually despite market volatility.</a:t>
            </a:r>
            <a:pPr algn="l" indent="0" marL="0">
              <a:lnSpc>
                <a:spcPct val="110000"/>
              </a:lnSpc>
              <a:buNone/>
            </a:pPr>
            <a:r>
              <a:rPr lang="en-US" sz="950" dirty="0">
                <a:solidFill>
                  <a:srgbClr val="272525"/>
                </a:solidFill>
                <a:latin typeface="Inter" pitchFamily="34" charset="0"/>
                <a:ea typeface="Inter" pitchFamily="34" charset="-122"/>
                <a:cs typeface="Inter" pitchFamily="34" charset="-120"/>
              </a:rPr>
              <a:t> </a:t>
            </a:r>
            <a:pPr algn="l" indent="0" marL="0">
              <a:lnSpc>
                <a:spcPct val="110000"/>
              </a:lnSpc>
              <a:buNone/>
            </a:pPr>
            <a:r>
              <a:rPr lang="en-US" sz="950" dirty="0">
                <a:solidFill>
                  <a:srgbClr val="00AA44"/>
                </a:solidFill>
                <a:latin typeface="Inter" pitchFamily="34" charset="0"/>
                <a:ea typeface="Inter" pitchFamily="34" charset="-122"/>
                <a:cs typeface="Inter" pitchFamily="34" charset="-120"/>
              </a:rPr>
              <a:t>Returns have stabilized around 600 basis points, indicating steady fund performance and effective risk management.</a:t>
            </a:r>
            <a:pPr algn="l" indent="0" marL="0">
              <a:lnSpc>
                <a:spcPct val="110000"/>
              </a:lnSpc>
              <a:buNone/>
            </a:pPr>
            <a:r>
              <a:rPr lang="en-US" sz="950" dirty="0">
                <a:solidFill>
                  <a:srgbClr val="272525"/>
                </a:solidFill>
                <a:latin typeface="Inter" pitchFamily="34" charset="0"/>
                <a:ea typeface="Inter" pitchFamily="34" charset="-122"/>
                <a:cs typeface="Inter" pitchFamily="34" charset="-120"/>
              </a:rPr>
              <a:t> </a:t>
            </a:r>
            <a:pPr algn="l" indent="0" marL="0">
              <a:lnSpc>
                <a:spcPct val="110000"/>
              </a:lnSpc>
              <a:buNone/>
            </a:pPr>
            <a:r>
              <a:rPr lang="en-US" sz="950" dirty="0">
                <a:solidFill>
                  <a:srgbClr val="2F5AA8"/>
                </a:solidFill>
                <a:latin typeface="Inter" pitchFamily="34" charset="0"/>
                <a:ea typeface="Inter" pitchFamily="34" charset="-122"/>
                <a:cs typeface="Inter" pitchFamily="34" charset="-120"/>
              </a:rPr>
              <a:t>This dual stability—consistent inflows paired with stable returns—signals strong investor confidence and validates the portfolio's resilience through market cycles.</a:t>
            </a:r>
            <a:pPr algn="l" indent="0" marL="0">
              <a:lnSpc>
                <a:spcPct val="110000"/>
              </a:lnSpc>
              <a:buNone/>
            </a:pPr>
            <a:r>
              <a:rPr lang="en-US" sz="950" dirty="0">
                <a:solidFill>
                  <a:srgbClr val="272525"/>
                </a:solidFill>
                <a:latin typeface="Inter" pitchFamily="34" charset="0"/>
                <a:ea typeface="Inter" pitchFamily="34" charset="-122"/>
                <a:cs typeface="Inter" pitchFamily="34" charset="-120"/>
              </a:rPr>
              <a:t> </a:t>
            </a:r>
            <a:pPr algn="l" indent="0" marL="0">
              <a:lnSpc>
                <a:spcPct val="110000"/>
              </a:lnSpc>
              <a:buNone/>
            </a:pPr>
            <a:r>
              <a:rPr lang="en-US" sz="950" dirty="0">
                <a:solidFill>
                  <a:srgbClr val="00AA44"/>
                </a:solidFill>
                <a:latin typeface="Inter" pitchFamily="34" charset="0"/>
                <a:ea typeface="Inter" pitchFamily="34" charset="-122"/>
                <a:cs typeface="Inter" pitchFamily="34" charset="-120"/>
              </a:rPr>
              <a:t>The flat trajectory suggests mature, predictable fund performance suitable for long-term wealth accumulation strategies.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992584"/>
            <a:ext cx="7185143" cy="413445"/>
          </a:xfrm>
          <a:prstGeom prst="rect">
            <a:avLst/>
          </a:prstGeom>
          <a:noFill/>
          <a:ln/>
        </p:spPr>
        <p:txBody>
          <a:bodyPr wrap="none" lIns="0" tIns="0" rIns="0" bIns="0" rtlCol="0" anchor="t"/>
          <a:lstStyle/>
          <a:p>
            <a:pPr algn="l" indent="0" marL="0">
              <a:lnSpc>
                <a:spcPct val="104000"/>
              </a:lnSpc>
              <a:buNone/>
            </a:pPr>
            <a:r>
              <a:rPr lang="en-US" sz="2600" b="1" dirty="0">
                <a:solidFill>
                  <a:srgbClr val="0066CC"/>
                </a:solidFill>
                <a:latin typeface="Inter Bold" pitchFamily="34" charset="0"/>
                <a:ea typeface="Inter Bold" pitchFamily="34" charset="-122"/>
                <a:cs typeface="Inter Bold" pitchFamily="34" charset="-120"/>
              </a:rPr>
              <a:t>Transaction Behavior &amp; Investor Patterns</a:t>
            </a:r>
            <a:endParaRPr lang="en-US" sz="2600" dirty="0"/>
          </a:p>
        </p:txBody>
      </p:sp>
      <p:sp>
        <p:nvSpPr>
          <p:cNvPr id="3" name="Text 1"/>
          <p:cNvSpPr/>
          <p:nvPr/>
        </p:nvSpPr>
        <p:spPr>
          <a:xfrm>
            <a:off x="661475" y="1443038"/>
            <a:ext cx="7691344" cy="330696"/>
          </a:xfrm>
          <a:prstGeom prst="rect">
            <a:avLst/>
          </a:prstGeom>
          <a:noFill/>
          <a:ln/>
        </p:spPr>
        <p:txBody>
          <a:bodyPr wrap="none" lIns="0" tIns="0" rIns="0" bIns="0" rtlCol="0" anchor="t"/>
          <a:lstStyle/>
          <a:p>
            <a:pPr algn="l" indent="0" marL="0">
              <a:lnSpc>
                <a:spcPct val="104000"/>
              </a:lnSpc>
              <a:buNone/>
            </a:pPr>
            <a:r>
              <a:rPr lang="en-US" sz="2050" b="1" dirty="0">
                <a:solidFill>
                  <a:srgbClr val="00AA44"/>
                </a:solidFill>
                <a:latin typeface="Inter Bold" pitchFamily="34" charset="0"/>
                <a:ea typeface="Inter Bold" pitchFamily="34" charset="-122"/>
                <a:cs typeface="Inter Bold" pitchFamily="34" charset="-120"/>
              </a:rPr>
              <a:t>Investment methodology and KYC verification analysis</a:t>
            </a:r>
            <a:endParaRPr lang="en-US" sz="2050" dirty="0"/>
          </a:p>
        </p:txBody>
      </p:sp>
      <p:pic>
        <p:nvPicPr>
          <p:cNvPr id="4" name="Image 0" descr="preencoded.png">    </p:cNvPr>
          <p:cNvPicPr>
            <a:picLocks noChangeAspect="1"/>
          </p:cNvPicPr>
          <p:nvPr/>
        </p:nvPicPr>
        <p:blipFill>
          <a:blip r:embed="rId1"/>
          <a:stretch>
            <a:fillRect/>
          </a:stretch>
        </p:blipFill>
        <p:spPr>
          <a:xfrm>
            <a:off x="661475" y="2016820"/>
            <a:ext cx="3691044" cy="2656880"/>
          </a:xfrm>
          <a:prstGeom prst="rect">
            <a:avLst/>
          </a:prstGeom>
        </p:spPr>
      </p:pic>
      <p:sp>
        <p:nvSpPr>
          <p:cNvPr id="5" name="Text 2"/>
          <p:cNvSpPr/>
          <p:nvPr/>
        </p:nvSpPr>
        <p:spPr>
          <a:xfrm>
            <a:off x="661475" y="4777879"/>
            <a:ext cx="5882632" cy="179983"/>
          </a:xfrm>
          <a:prstGeom prst="rect">
            <a:avLst/>
          </a:prstGeom>
          <a:noFill/>
          <a:ln/>
        </p:spPr>
        <p:txBody>
          <a:bodyPr wrap="none" lIns="0" tIns="0" rIns="0" bIns="0" rtlCol="0" anchor="t"/>
          <a:lstStyle/>
          <a:p>
            <a:pPr algn="l" indent="0" marL="0">
              <a:lnSpc>
                <a:spcPct val="113000"/>
              </a:lnSpc>
              <a:buNone/>
            </a:pPr>
            <a:r>
              <a:rPr lang="en-US" sz="1000" dirty="0">
                <a:solidFill>
                  <a:srgbClr val="FF9900"/>
                </a:solidFill>
                <a:latin typeface="Inter" pitchFamily="34" charset="0"/>
                <a:ea typeface="Inter" pitchFamily="34" charset="-122"/>
                <a:cs typeface="Inter" pitchFamily="34" charset="-120"/>
              </a:rPr>
              <a:t>Transaction Type Distribution (SIP vs. Lumps)</a:t>
            </a:r>
            <a:endParaRPr lang="en-US" sz="1000" dirty="0"/>
          </a:p>
        </p:txBody>
      </p:sp>
      <p:pic>
        <p:nvPicPr>
          <p:cNvPr id="6" name="Image 1" descr="preencoded.png">    </p:cNvPr>
          <p:cNvPicPr>
            <a:picLocks noChangeAspect="1"/>
          </p:cNvPicPr>
          <p:nvPr/>
        </p:nvPicPr>
        <p:blipFill>
          <a:blip r:embed="rId2"/>
          <a:stretch>
            <a:fillRect/>
          </a:stretch>
        </p:blipFill>
        <p:spPr>
          <a:xfrm>
            <a:off x="6263523" y="2016820"/>
            <a:ext cx="3691044" cy="2656880"/>
          </a:xfrm>
          <a:prstGeom prst="rect">
            <a:avLst/>
          </a:prstGeom>
        </p:spPr>
      </p:pic>
      <p:sp>
        <p:nvSpPr>
          <p:cNvPr id="7" name="Text 3"/>
          <p:cNvSpPr/>
          <p:nvPr/>
        </p:nvSpPr>
        <p:spPr>
          <a:xfrm>
            <a:off x="6263523" y="4777879"/>
            <a:ext cx="5882632" cy="179983"/>
          </a:xfrm>
          <a:prstGeom prst="rect">
            <a:avLst/>
          </a:prstGeom>
          <a:noFill/>
          <a:ln/>
        </p:spPr>
        <p:txBody>
          <a:bodyPr wrap="none" lIns="0" tIns="0" rIns="0" bIns="0" rtlCol="0" anchor="t"/>
          <a:lstStyle/>
          <a:p>
            <a:pPr algn="l" indent="0" marL="0">
              <a:lnSpc>
                <a:spcPct val="113000"/>
              </a:lnSpc>
              <a:buNone/>
            </a:pPr>
            <a:r>
              <a:rPr lang="en-US" sz="1000" dirty="0">
                <a:solidFill>
                  <a:srgbClr val="0066CC"/>
                </a:solidFill>
                <a:latin typeface="Inter" pitchFamily="34" charset="0"/>
                <a:ea typeface="Inter" pitchFamily="34" charset="-122"/>
                <a:cs typeface="Inter" pitchFamily="34" charset="-120"/>
              </a:rPr>
              <a:t>Average Order Size by KYC Status</a:t>
            </a:r>
            <a:endParaRPr lang="en-US" sz="1000" dirty="0"/>
          </a:p>
        </p:txBody>
      </p:sp>
      <p:sp>
        <p:nvSpPr>
          <p:cNvPr id="8" name="Text 4"/>
          <p:cNvSpPr/>
          <p:nvPr/>
        </p:nvSpPr>
        <p:spPr>
          <a:xfrm>
            <a:off x="661475" y="5145385"/>
            <a:ext cx="10868745" cy="719931"/>
          </a:xfrm>
          <a:prstGeom prst="rect">
            <a:avLst/>
          </a:prstGeom>
          <a:noFill/>
          <a:ln/>
        </p:spPr>
        <p:txBody>
          <a:bodyPr wrap="square" lIns="0" tIns="0" rIns="0" bIns="0" rtlCol="0" anchor="t">
            <a:normAutofit/>
          </a:bodyPr>
          <a:lstStyle/>
          <a:p>
            <a:pPr algn="l" indent="0" marL="0">
              <a:lnSpc>
                <a:spcPct val="113000"/>
              </a:lnSpc>
              <a:buNone/>
            </a:pPr>
            <a:r>
              <a:rPr lang="en-US" sz="1000" dirty="0">
                <a:solidFill>
                  <a:srgbClr val="00AA44"/>
                </a:solidFill>
                <a:latin typeface="Inter" pitchFamily="34" charset="0"/>
                <a:ea typeface="Inter" pitchFamily="34" charset="-122"/>
                <a:cs typeface="Inter" pitchFamily="34" charset="-120"/>
              </a:rPr>
              <a:t>Lumpsum investments dominate at 58.49% (₹2.06bn), reflecting investor preference for one-time capital deployment, particularly during market dips. Redemptions at 35.34% (₹1.24bn) indicate healthy portfolio rebalancing and profit-taking activities. SIP contributions at 6.17% (₹0.22bn) reveal emerging adoption of systematic investing, suggesting growing investor education and risk-averse behavior. KYC verification shows negligible impact on order size (~₹100K for both pending and verified), indicating consistent investment discipline across compliance statuses. This pattern suggests a sophisticated investor base with diverse investment philosophies.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659606"/>
            <a:ext cx="5942360" cy="383977"/>
          </a:xfrm>
          <a:prstGeom prst="rect">
            <a:avLst/>
          </a:prstGeom>
          <a:noFill/>
          <a:ln/>
        </p:spPr>
        <p:txBody>
          <a:bodyPr wrap="none" lIns="0" tIns="0" rIns="0" bIns="0" rtlCol="0" anchor="t"/>
          <a:lstStyle/>
          <a:p>
            <a:pPr algn="l" indent="0" marL="0">
              <a:lnSpc>
                <a:spcPct val="104000"/>
              </a:lnSpc>
              <a:buNone/>
            </a:pPr>
            <a:r>
              <a:rPr lang="en-US" sz="2400" b="1" dirty="0">
                <a:solidFill>
                  <a:srgbClr val="0066CC"/>
                </a:solidFill>
                <a:latin typeface="Inter Bold" pitchFamily="34" charset="0"/>
                <a:ea typeface="Inter Bold" pitchFamily="34" charset="-122"/>
                <a:cs typeface="Inter Bold" pitchFamily="34" charset="-120"/>
              </a:rPr>
              <a:t>Geographic Investment Distribution</a:t>
            </a:r>
            <a:endParaRPr lang="en-US" sz="2400" dirty="0"/>
          </a:p>
        </p:txBody>
      </p:sp>
      <p:sp>
        <p:nvSpPr>
          <p:cNvPr id="3" name="Text 1"/>
          <p:cNvSpPr/>
          <p:nvPr/>
        </p:nvSpPr>
        <p:spPr>
          <a:xfrm>
            <a:off x="661475" y="1075432"/>
            <a:ext cx="6635882" cy="307181"/>
          </a:xfrm>
          <a:prstGeom prst="rect">
            <a:avLst/>
          </a:prstGeom>
          <a:noFill/>
          <a:ln/>
        </p:spPr>
        <p:txBody>
          <a:bodyPr wrap="none" lIns="0" tIns="0" rIns="0" bIns="0" rtlCol="0" anchor="t"/>
          <a:lstStyle/>
          <a:p>
            <a:pPr algn="l" indent="0" marL="0">
              <a:lnSpc>
                <a:spcPct val="104000"/>
              </a:lnSpc>
              <a:buNone/>
            </a:pPr>
            <a:r>
              <a:rPr lang="en-US" sz="1900" b="1" dirty="0">
                <a:solidFill>
                  <a:srgbClr val="00AA44"/>
                </a:solidFill>
                <a:latin typeface="Inter Bold" pitchFamily="34" charset="0"/>
                <a:ea typeface="Inter Bold" pitchFamily="34" charset="-122"/>
                <a:cs typeface="Inter Bold" pitchFamily="34" charset="-120"/>
              </a:rPr>
              <a:t>State-wise investment concentration and patterns</a:t>
            </a:r>
            <a:endParaRPr lang="en-US" sz="1900" dirty="0"/>
          </a:p>
        </p:txBody>
      </p:sp>
      <p:pic>
        <p:nvPicPr>
          <p:cNvPr id="4" name="Image 0" descr="preencoded.png">    </p:cNvPr>
          <p:cNvPicPr>
            <a:picLocks noChangeAspect="1"/>
          </p:cNvPicPr>
          <p:nvPr/>
        </p:nvPicPr>
        <p:blipFill>
          <a:blip r:embed="rId1"/>
          <a:stretch>
            <a:fillRect/>
          </a:stretch>
        </p:blipFill>
        <p:spPr>
          <a:xfrm>
            <a:off x="661475" y="1502370"/>
            <a:ext cx="7064595" cy="3957737"/>
          </a:xfrm>
          <a:prstGeom prst="rect">
            <a:avLst/>
          </a:prstGeom>
        </p:spPr>
      </p:pic>
      <p:sp>
        <p:nvSpPr>
          <p:cNvPr id="5" name="Text 2"/>
          <p:cNvSpPr/>
          <p:nvPr/>
        </p:nvSpPr>
        <p:spPr>
          <a:xfrm>
            <a:off x="661475" y="5549900"/>
            <a:ext cx="10868745" cy="648494"/>
          </a:xfrm>
          <a:prstGeom prst="rect">
            <a:avLst/>
          </a:prstGeom>
          <a:noFill/>
          <a:ln/>
        </p:spPr>
        <p:txBody>
          <a:bodyPr wrap="square" lIns="0" tIns="0" rIns="0" bIns="0" rtlCol="0" anchor="t">
            <a:normAutofit/>
          </a:bodyPr>
          <a:lstStyle/>
          <a:p>
            <a:pPr algn="l" indent="0" marL="0">
              <a:lnSpc>
                <a:spcPct val="110000"/>
              </a:lnSpc>
              <a:buNone/>
            </a:pPr>
            <a:r>
              <a:rPr lang="en-US" sz="950" dirty="0">
                <a:solidFill>
                  <a:srgbClr val="272525"/>
                </a:solidFill>
                <a:latin typeface="Inter" pitchFamily="34" charset="0"/>
                <a:ea typeface="Inter" pitchFamily="34" charset="-122"/>
                <a:cs typeface="Inter" pitchFamily="34" charset="-120"/>
              </a:rPr>
              <a:t>Investment concentration reveals a strategic geographic footprint with Punjab (₹95M) and Tamil Nadu (₹88M) emerging as primary distribution hubs, collectively representing 21% of total state-level investment. The relatively balanced distribution across 12 states—ranging from ₹95M (Punjab) to ₹35M (Maharashtra)—demonstrates successful geographic diversification and market penetration. Northern states (Punjab, Rajasthan, Haryana) and southern states (Tamil Nadu, Telangana, Karnataka) show stronger participation, suggesting regional economic factors and investor demographics drive fund adoption. This geographic spread mitigates concentration risk and provides expansion opportunities in underperforming regions.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533003"/>
            <a:ext cx="4047329" cy="374650"/>
          </a:xfrm>
          <a:prstGeom prst="rect">
            <a:avLst/>
          </a:prstGeom>
          <a:noFill/>
          <a:ln/>
        </p:spPr>
        <p:txBody>
          <a:bodyPr wrap="none" lIns="0" tIns="0" rIns="0" bIns="0" rtlCol="0" anchor="t"/>
          <a:lstStyle/>
          <a:p>
            <a:pPr algn="l" indent="0" marL="0">
              <a:lnSpc>
                <a:spcPct val="104000"/>
              </a:lnSpc>
              <a:buNone/>
            </a:pPr>
            <a:r>
              <a:rPr lang="en-US" sz="2350" b="1" dirty="0">
                <a:solidFill>
                  <a:srgbClr val="0066CC"/>
                </a:solidFill>
                <a:latin typeface="Inter Bold" pitchFamily="34" charset="0"/>
                <a:ea typeface="Inter Bold" pitchFamily="34" charset="-122"/>
                <a:cs typeface="Inter Bold" pitchFamily="34" charset="-120"/>
              </a:rPr>
              <a:t>AUM Growth Trajectory</a:t>
            </a:r>
            <a:endParaRPr lang="en-US" sz="2350" dirty="0"/>
          </a:p>
        </p:txBody>
      </p:sp>
      <p:sp>
        <p:nvSpPr>
          <p:cNvPr id="3" name="Text 1"/>
          <p:cNvSpPr/>
          <p:nvPr/>
        </p:nvSpPr>
        <p:spPr>
          <a:xfrm>
            <a:off x="661475" y="938014"/>
            <a:ext cx="4714162" cy="299740"/>
          </a:xfrm>
          <a:prstGeom prst="rect">
            <a:avLst/>
          </a:prstGeom>
          <a:noFill/>
          <a:ln/>
        </p:spPr>
        <p:txBody>
          <a:bodyPr wrap="none" lIns="0" tIns="0" rIns="0" bIns="0" rtlCol="0" anchor="t"/>
          <a:lstStyle/>
          <a:p>
            <a:pPr algn="l" indent="0" marL="0">
              <a:lnSpc>
                <a:spcPct val="104000"/>
              </a:lnSpc>
              <a:buNone/>
            </a:pPr>
            <a:r>
              <a:rPr lang="en-US" sz="1850" b="1" dirty="0">
                <a:solidFill>
                  <a:srgbClr val="00AA44"/>
                </a:solidFill>
                <a:latin typeface="Inter Bold" pitchFamily="34" charset="0"/>
                <a:ea typeface="Inter Bold" pitchFamily="34" charset="-122"/>
                <a:cs typeface="Inter Bold" pitchFamily="34" charset="-120"/>
              </a:rPr>
              <a:t>Year-over-year portfolio expansion</a:t>
            </a:r>
            <a:endParaRPr lang="en-US" sz="1850" dirty="0"/>
          </a:p>
        </p:txBody>
      </p:sp>
      <p:pic>
        <p:nvPicPr>
          <p:cNvPr id="4" name="Image 0" descr="preencoded.png">    </p:cNvPr>
          <p:cNvPicPr>
            <a:picLocks noChangeAspect="1"/>
          </p:cNvPicPr>
          <p:nvPr/>
        </p:nvPicPr>
        <p:blipFill>
          <a:blip r:embed="rId1"/>
          <a:stretch>
            <a:fillRect/>
          </a:stretch>
        </p:blipFill>
        <p:spPr>
          <a:xfrm>
            <a:off x="661475" y="1351855"/>
            <a:ext cx="7608102" cy="4260552"/>
          </a:xfrm>
          <a:prstGeom prst="rect">
            <a:avLst/>
          </a:prstGeom>
        </p:spPr>
      </p:pic>
      <p:sp>
        <p:nvSpPr>
          <p:cNvPr id="5" name="Text 2"/>
          <p:cNvSpPr/>
          <p:nvPr/>
        </p:nvSpPr>
        <p:spPr>
          <a:xfrm>
            <a:off x="661475" y="5697934"/>
            <a:ext cx="10868745" cy="627063"/>
          </a:xfrm>
          <a:prstGeom prst="rect">
            <a:avLst/>
          </a:prstGeom>
          <a:noFill/>
          <a:ln/>
        </p:spPr>
        <p:txBody>
          <a:bodyPr wrap="square" lIns="0" tIns="0" rIns="0" bIns="0" rtlCol="0" anchor="t">
            <a:normAutofit/>
          </a:bodyPr>
          <a:lstStyle/>
          <a:p>
            <a:pPr algn="l" indent="0" marL="0">
              <a:lnSpc>
                <a:spcPct val="109000"/>
              </a:lnSpc>
              <a:buNone/>
            </a:pPr>
            <a:r>
              <a:rPr lang="en-US" sz="900" dirty="0">
                <a:solidFill>
                  <a:srgbClr val="272525"/>
                </a:solidFill>
                <a:latin typeface="Inter" pitchFamily="34" charset="0"/>
                <a:ea typeface="Inter" pitchFamily="34" charset="-122"/>
                <a:cs typeface="Inter" pitchFamily="34" charset="-120"/>
              </a:rPr>
              <a:t>The portfolio's AUM trajectory reveals a robust growth phase from 2022 (₹40M) through 2024 (₹60M), representing a 50% expansion over two years. The 2025 correction to ₹55M reflects natural market cycles and profit-taking, not fundamental weakness. This growth pattern—characterized by strong upside momentum followed by measured consolidation—indicates healthy market dynamics and investor confidence. The overall trend demonstrates portfolio resilience through market volatility, with the 2024 peak validating fund management effectiveness. Forward projections suggest stabilization around ₹55-60M, positioning the portfolio for sustainable long-term growth aligned with market conditions.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659606"/>
            <a:ext cx="5789368" cy="383977"/>
          </a:xfrm>
          <a:prstGeom prst="rect">
            <a:avLst/>
          </a:prstGeom>
          <a:noFill/>
          <a:ln/>
        </p:spPr>
        <p:txBody>
          <a:bodyPr wrap="none" lIns="0" tIns="0" rIns="0" bIns="0" rtlCol="0" anchor="t"/>
          <a:lstStyle/>
          <a:p>
            <a:pPr algn="l" indent="0" marL="0">
              <a:lnSpc>
                <a:spcPct val="104000"/>
              </a:lnSpc>
              <a:buNone/>
            </a:pPr>
            <a:r>
              <a:rPr lang="en-US" sz="2400" b="1" dirty="0">
                <a:solidFill>
                  <a:srgbClr val="0066CC"/>
                </a:solidFill>
                <a:latin typeface="Inter Bold" pitchFamily="34" charset="0"/>
                <a:ea typeface="Inter Bold" pitchFamily="34" charset="-122"/>
                <a:cs typeface="Inter Bold" pitchFamily="34" charset="-120"/>
              </a:rPr>
              <a:t>Fund House Performance Analysis</a:t>
            </a:r>
            <a:endParaRPr lang="en-US" sz="2400" dirty="0"/>
          </a:p>
        </p:txBody>
      </p:sp>
      <p:sp>
        <p:nvSpPr>
          <p:cNvPr id="3" name="Text 1"/>
          <p:cNvSpPr/>
          <p:nvPr/>
        </p:nvSpPr>
        <p:spPr>
          <a:xfrm>
            <a:off x="661475" y="1075432"/>
            <a:ext cx="5799985" cy="307181"/>
          </a:xfrm>
          <a:prstGeom prst="rect">
            <a:avLst/>
          </a:prstGeom>
          <a:noFill/>
          <a:ln/>
        </p:spPr>
        <p:txBody>
          <a:bodyPr wrap="none" lIns="0" tIns="0" rIns="0" bIns="0" rtlCol="0" anchor="t"/>
          <a:lstStyle/>
          <a:p>
            <a:pPr algn="l" indent="0" marL="0">
              <a:lnSpc>
                <a:spcPct val="104000"/>
              </a:lnSpc>
              <a:buNone/>
            </a:pPr>
            <a:r>
              <a:rPr lang="en-US" sz="1900" b="1" dirty="0">
                <a:solidFill>
                  <a:srgbClr val="00AA44"/>
                </a:solidFill>
                <a:latin typeface="Inter Bold" pitchFamily="34" charset="0"/>
                <a:ea typeface="Inter Bold" pitchFamily="34" charset="-122"/>
                <a:cs typeface="Inter Bold" pitchFamily="34" charset="-120"/>
              </a:rPr>
              <a:t>AUM distribution across major fund houses</a:t>
            </a:r>
            <a:endParaRPr lang="en-US" sz="1900" dirty="0"/>
          </a:p>
        </p:txBody>
      </p:sp>
      <p:pic>
        <p:nvPicPr>
          <p:cNvPr id="4" name="Image 0" descr="preencoded.png">    </p:cNvPr>
          <p:cNvPicPr>
            <a:picLocks noChangeAspect="1"/>
          </p:cNvPicPr>
          <p:nvPr/>
        </p:nvPicPr>
        <p:blipFill>
          <a:blip r:embed="rId1"/>
          <a:stretch>
            <a:fillRect/>
          </a:stretch>
        </p:blipFill>
        <p:spPr>
          <a:xfrm>
            <a:off x="661475" y="1502370"/>
            <a:ext cx="7064595" cy="3957737"/>
          </a:xfrm>
          <a:prstGeom prst="rect">
            <a:avLst/>
          </a:prstGeom>
        </p:spPr>
      </p:pic>
      <p:sp>
        <p:nvSpPr>
          <p:cNvPr id="5" name="Text 2"/>
          <p:cNvSpPr/>
          <p:nvPr/>
        </p:nvSpPr>
        <p:spPr>
          <a:xfrm>
            <a:off x="661475" y="5549900"/>
            <a:ext cx="10868745" cy="648494"/>
          </a:xfrm>
          <a:prstGeom prst="rect">
            <a:avLst/>
          </a:prstGeom>
          <a:noFill/>
          <a:ln/>
        </p:spPr>
        <p:txBody>
          <a:bodyPr wrap="square" lIns="0" tIns="0" rIns="0" bIns="0" rtlCol="0" anchor="t">
            <a:normAutofit/>
          </a:bodyPr>
          <a:lstStyle/>
          <a:p>
            <a:pPr algn="l" indent="0" marL="0">
              <a:lnSpc>
                <a:spcPct val="110000"/>
              </a:lnSpc>
              <a:buNone/>
            </a:pPr>
            <a:r>
              <a:rPr lang="en-US" sz="950" dirty="0">
                <a:solidFill>
                  <a:srgbClr val="0066CC"/>
                </a:solidFill>
                <a:latin typeface="Inter" pitchFamily="34" charset="0"/>
                <a:ea typeface="Inter" pitchFamily="34" charset="-122"/>
                <a:cs typeface="Inter" pitchFamily="34" charset="-120"/>
              </a:rPr>
              <a:t>SBI Mutual Fund dominates the portfolio</a:t>
            </a:r>
            <a:pPr algn="l" indent="0" marL="0">
              <a:lnSpc>
                <a:spcPct val="110000"/>
              </a:lnSpc>
              <a:buNone/>
            </a:pPr>
            <a:r>
              <a:rPr lang="en-US" sz="950" dirty="0">
                <a:solidFill>
                  <a:srgbClr val="272525"/>
                </a:solidFill>
                <a:latin typeface="Inter" pitchFamily="34" charset="0"/>
                <a:ea typeface="Inter" pitchFamily="34" charset="-122"/>
                <a:cs typeface="Inter" pitchFamily="34" charset="-120"/>
              </a:rPr>
              <a:t> with ₹850Cr AUM, commanding 49.3% market share and reflecting investor confidence in India's largest mutual fund house. ICICI Prudential (₹720Cr, 41.7%) and HDFC (₹650Cr, 37.6%) follow as strong secondary players, collectively representing 79.3% of total AUM. This concentration in the top-3 fund houses reflects investor preference for established, regulated entities with proven track records and comprehensive product suites. Nippon India (₹580Cr) and Kotak Mahindra (₹500Cr) provide diversification and specialized expertise. This tiered structure balances concentration risk with operational efficiency and investor confidence in institutional-grade fund management.</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143099"/>
            <a:ext cx="3686877" cy="3686969"/>
          </a:xfrm>
          <a:prstGeom prst="rect">
            <a:avLst/>
          </a:prstGeom>
        </p:spPr>
      </p:pic>
      <p:sp>
        <p:nvSpPr>
          <p:cNvPr id="3" name="Text 0"/>
          <p:cNvSpPr/>
          <p:nvPr/>
        </p:nvSpPr>
        <p:spPr>
          <a:xfrm>
            <a:off x="5397266" y="1484015"/>
            <a:ext cx="5046735" cy="401638"/>
          </a:xfrm>
          <a:prstGeom prst="rect">
            <a:avLst/>
          </a:prstGeom>
          <a:noFill/>
          <a:ln/>
        </p:spPr>
        <p:txBody>
          <a:bodyPr wrap="none" lIns="0" tIns="0" rIns="0" bIns="0" rtlCol="0" anchor="t"/>
          <a:lstStyle/>
          <a:p>
            <a:pPr algn="l" indent="0" marL="0">
              <a:lnSpc>
                <a:spcPct val="104000"/>
              </a:lnSpc>
              <a:buNone/>
            </a:pPr>
            <a:r>
              <a:rPr lang="en-US" sz="2500" b="1" dirty="0">
                <a:solidFill>
                  <a:srgbClr val="0066CC"/>
                </a:solidFill>
                <a:latin typeface="Inter Bold" pitchFamily="34" charset="0"/>
                <a:ea typeface="Inter Bold" pitchFamily="34" charset="-122"/>
                <a:cs typeface="Inter Bold" pitchFamily="34" charset="-120"/>
              </a:rPr>
              <a:t>AUM Allocation by Category</a:t>
            </a:r>
            <a:endParaRPr lang="en-US" sz="2500" dirty="0"/>
          </a:p>
        </p:txBody>
      </p:sp>
      <p:sp>
        <p:nvSpPr>
          <p:cNvPr id="4" name="Text 1"/>
          <p:cNvSpPr/>
          <p:nvPr/>
        </p:nvSpPr>
        <p:spPr>
          <a:xfrm>
            <a:off x="5397266" y="2022177"/>
            <a:ext cx="6748790" cy="237728"/>
          </a:xfrm>
          <a:prstGeom prst="rect">
            <a:avLst/>
          </a:prstGeom>
          <a:noFill/>
          <a:ln/>
        </p:spPr>
        <p:txBody>
          <a:bodyPr wrap="none" lIns="0" tIns="0" rIns="0" bIns="0" rtlCol="0" anchor="t"/>
          <a:lstStyle/>
          <a:p>
            <a:pPr algn="l" indent="0" marL="0">
              <a:lnSpc>
                <a:spcPct val="123000"/>
              </a:lnSpc>
              <a:buNone/>
            </a:pPr>
            <a:r>
              <a:rPr lang="en-US" sz="1250" dirty="0">
                <a:solidFill>
                  <a:srgbClr val="00AA44"/>
                </a:solidFill>
                <a:latin typeface="Inter" pitchFamily="34" charset="0"/>
                <a:ea typeface="Inter" pitchFamily="34" charset="-122"/>
                <a:cs typeface="Inter" pitchFamily="34" charset="-120"/>
              </a:rPr>
              <a:t>Strategic portfolio segmentation</a:t>
            </a:r>
            <a:endParaRPr lang="en-US" sz="1250" dirty="0"/>
          </a:p>
        </p:txBody>
      </p:sp>
      <p:sp>
        <p:nvSpPr>
          <p:cNvPr id="5" name="Shape 2"/>
          <p:cNvSpPr/>
          <p:nvPr/>
        </p:nvSpPr>
        <p:spPr>
          <a:xfrm>
            <a:off x="5397266" y="2413496"/>
            <a:ext cx="6139205" cy="563563"/>
          </a:xfrm>
          <a:prstGeom prst="roundRect">
            <a:avLst>
              <a:gd name="adj" fmla="val 11974"/>
            </a:avLst>
          </a:prstGeom>
          <a:solidFill>
            <a:srgbClr val="DADBF1"/>
          </a:solidFill>
          <a:ln/>
        </p:spPr>
      </p:sp>
      <p:pic>
        <p:nvPicPr>
          <p:cNvPr id="6" name="Image 1" descr="preencoded.png">    </p:cNvPr>
          <p:cNvPicPr>
            <a:picLocks noChangeAspect="1"/>
          </p:cNvPicPr>
          <p:nvPr/>
        </p:nvPicPr>
        <p:blipFill>
          <a:blip r:embed="rId2"/>
          <a:stretch>
            <a:fillRect/>
          </a:stretch>
        </p:blipFill>
        <p:spPr>
          <a:xfrm>
            <a:off x="5557897" y="2651423"/>
            <a:ext cx="200814" cy="160635"/>
          </a:xfrm>
          <a:prstGeom prst="rect">
            <a:avLst/>
          </a:prstGeom>
        </p:spPr>
      </p:pic>
      <p:sp>
        <p:nvSpPr>
          <p:cNvPr id="7" name="Text 3"/>
          <p:cNvSpPr/>
          <p:nvPr/>
        </p:nvSpPr>
        <p:spPr>
          <a:xfrm>
            <a:off x="5919342" y="2576413"/>
            <a:ext cx="6066083" cy="237728"/>
          </a:xfrm>
          <a:prstGeom prst="rect">
            <a:avLst/>
          </a:prstGeom>
          <a:noFill/>
          <a:ln/>
        </p:spPr>
        <p:txBody>
          <a:bodyPr wrap="none" lIns="0" tIns="0" rIns="0" bIns="0" rtlCol="0" anchor="t"/>
          <a:lstStyle/>
          <a:p>
            <a:pPr algn="l" indent="0" marL="0">
              <a:lnSpc>
                <a:spcPct val="123000"/>
              </a:lnSpc>
              <a:buNone/>
            </a:pPr>
            <a:r>
              <a:rPr lang="en-US" sz="1250" b="1" dirty="0">
                <a:solidFill>
                  <a:srgbClr val="FF9900"/>
                </a:solidFill>
                <a:latin typeface="Inter Bold" pitchFamily="34" charset="0"/>
                <a:ea typeface="Inter Bold" pitchFamily="34" charset="-122"/>
                <a:cs typeface="Inter Bold" pitchFamily="34" charset="-120"/>
              </a:rPr>
              <a:t>Equity: 82%</a:t>
            </a:r>
            <a:pPr algn="l" indent="0" marL="0">
              <a:lnSpc>
                <a:spcPct val="123000"/>
              </a:lnSpc>
              <a:buNone/>
            </a:pPr>
            <a:r>
              <a:rPr lang="en-US" sz="1250" dirty="0">
                <a:solidFill>
                  <a:srgbClr val="000000"/>
                </a:solidFill>
                <a:latin typeface="Inter" pitchFamily="34" charset="0"/>
                <a:ea typeface="Inter" pitchFamily="34" charset="-122"/>
                <a:cs typeface="Inter" pitchFamily="34" charset="-120"/>
              </a:rPr>
              <a:t> | </a:t>
            </a:r>
            <a:pPr algn="l" indent="0" marL="0">
              <a:lnSpc>
                <a:spcPct val="123000"/>
              </a:lnSpc>
              <a:buNone/>
            </a:pPr>
            <a:r>
              <a:rPr lang="en-US" sz="1250" b="1" dirty="0">
                <a:solidFill>
                  <a:srgbClr val="FF9900"/>
                </a:solidFill>
                <a:latin typeface="Inter Bold" pitchFamily="34" charset="0"/>
                <a:ea typeface="Inter Bold" pitchFamily="34" charset="-122"/>
                <a:cs typeface="Inter Bold" pitchFamily="34" charset="-120"/>
              </a:rPr>
              <a:t>Debt: 18%</a:t>
            </a:r>
            <a:endParaRPr lang="en-US" sz="1250" dirty="0"/>
          </a:p>
        </p:txBody>
      </p:sp>
      <p:sp>
        <p:nvSpPr>
          <p:cNvPr id="8" name="Text 4"/>
          <p:cNvSpPr/>
          <p:nvPr/>
        </p:nvSpPr>
        <p:spPr>
          <a:xfrm>
            <a:off x="5397266" y="3130649"/>
            <a:ext cx="6139205" cy="2615009"/>
          </a:xfrm>
          <a:prstGeom prst="rect">
            <a:avLst/>
          </a:prstGeom>
          <a:noFill/>
          <a:ln/>
        </p:spPr>
        <p:txBody>
          <a:bodyPr wrap="square" lIns="0" tIns="0" rIns="0" bIns="0" rtlCol="0" anchor="t">
            <a:normAutofit/>
          </a:bodyPr>
          <a:lstStyle/>
          <a:p>
            <a:pPr algn="l" indent="0" marL="0">
              <a:lnSpc>
                <a:spcPct val="123000"/>
              </a:lnSpc>
              <a:buNone/>
            </a:pPr>
            <a:r>
              <a:rPr lang="en-US" sz="1250" dirty="0">
                <a:solidFill>
                  <a:srgbClr val="272525"/>
                </a:solidFill>
                <a:latin typeface="Inter" pitchFamily="34" charset="0"/>
                <a:ea typeface="Inter" pitchFamily="34" charset="-122"/>
                <a:cs typeface="Inter" pitchFamily="34" charset="-120"/>
              </a:rPr>
              <a:t>The portfolio's 82-18 equity-debt allocation reflects a growth-oriented investment philosophy balanced with capital preservation. Equity dominance (₹141.3B) positions the portfolio for long-term wealth creation and inflation hedging, while the 18% debt allocation (₹31.0B) provides stability, liquidity, and downside protection during market corrections. This strategic mix aligns with modern portfolio theory, offering optimal risk-adjusted returns for investors with medium-to-long time horizons. The allocation demonstrates sophisticated asset management, enabling the portfolio to capture equity market upside while maintaining defensive characteristics. This balance has proven effective in delivering consistent returns (6% annually) while managing volatility through market cycles.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961529"/>
            <a:ext cx="3974008" cy="1987054"/>
          </a:xfrm>
          <a:prstGeom prst="rect">
            <a:avLst/>
          </a:prstGeom>
        </p:spPr>
      </p:pic>
      <p:sp>
        <p:nvSpPr>
          <p:cNvPr id="3" name="Text 0"/>
          <p:cNvSpPr/>
          <p:nvPr/>
        </p:nvSpPr>
        <p:spPr>
          <a:xfrm>
            <a:off x="5735097" y="944463"/>
            <a:ext cx="5102296" cy="401638"/>
          </a:xfrm>
          <a:prstGeom prst="rect">
            <a:avLst/>
          </a:prstGeom>
          <a:noFill/>
          <a:ln/>
        </p:spPr>
        <p:txBody>
          <a:bodyPr wrap="none" lIns="0" tIns="0" rIns="0" bIns="0" rtlCol="0" anchor="t"/>
          <a:lstStyle/>
          <a:p>
            <a:pPr algn="l" indent="0" marL="0">
              <a:lnSpc>
                <a:spcPct val="104000"/>
              </a:lnSpc>
              <a:buNone/>
            </a:pPr>
            <a:r>
              <a:rPr lang="en-US" sz="2500" b="1" dirty="0">
                <a:solidFill>
                  <a:srgbClr val="0066CC"/>
                </a:solidFill>
                <a:latin typeface="Inter Bold" pitchFamily="34" charset="0"/>
                <a:ea typeface="Inter Bold" pitchFamily="34" charset="-122"/>
                <a:cs typeface="Inter Bold" pitchFamily="34" charset="-120"/>
              </a:rPr>
              <a:t>Investor Transaction Volume</a:t>
            </a:r>
            <a:endParaRPr lang="en-US" sz="2500" dirty="0"/>
          </a:p>
        </p:txBody>
      </p:sp>
      <p:sp>
        <p:nvSpPr>
          <p:cNvPr id="4" name="Text 1"/>
          <p:cNvSpPr/>
          <p:nvPr/>
        </p:nvSpPr>
        <p:spPr>
          <a:xfrm>
            <a:off x="5735097" y="1482626"/>
            <a:ext cx="6410958" cy="237728"/>
          </a:xfrm>
          <a:prstGeom prst="rect">
            <a:avLst/>
          </a:prstGeom>
          <a:noFill/>
          <a:ln/>
        </p:spPr>
        <p:txBody>
          <a:bodyPr wrap="none" lIns="0" tIns="0" rIns="0" bIns="0" rtlCol="0" anchor="t"/>
          <a:lstStyle/>
          <a:p>
            <a:pPr algn="l" indent="0" marL="0">
              <a:lnSpc>
                <a:spcPct val="123000"/>
              </a:lnSpc>
              <a:buNone/>
            </a:pPr>
            <a:r>
              <a:rPr lang="en-US" sz="1250" b="1" dirty="0">
                <a:solidFill>
                  <a:srgbClr val="00AA44"/>
                </a:solidFill>
                <a:latin typeface="Inter Bold" pitchFamily="34" charset="0"/>
                <a:ea typeface="Inter Bold" pitchFamily="34" charset="-122"/>
                <a:cs typeface="Inter Bold" pitchFamily="34" charset="-120"/>
              </a:rPr>
              <a:t>Geographic distribution of investor activity</a:t>
            </a:r>
            <a:endParaRPr lang="en-US" sz="1250" dirty="0"/>
          </a:p>
        </p:txBody>
      </p:sp>
      <p:sp>
        <p:nvSpPr>
          <p:cNvPr id="5" name="Shape 2"/>
          <p:cNvSpPr/>
          <p:nvPr/>
        </p:nvSpPr>
        <p:spPr>
          <a:xfrm>
            <a:off x="5735097" y="1873945"/>
            <a:ext cx="5801374" cy="563563"/>
          </a:xfrm>
          <a:prstGeom prst="roundRect">
            <a:avLst>
              <a:gd name="adj" fmla="val 11974"/>
            </a:avLst>
          </a:prstGeom>
          <a:solidFill>
            <a:srgbClr val="DADBF1"/>
          </a:solidFill>
          <a:ln/>
        </p:spPr>
      </p:sp>
      <p:pic>
        <p:nvPicPr>
          <p:cNvPr id="6" name="Image 1" descr="preencoded.png">    </p:cNvPr>
          <p:cNvPicPr>
            <a:picLocks noChangeAspect="1"/>
          </p:cNvPicPr>
          <p:nvPr/>
        </p:nvPicPr>
        <p:blipFill>
          <a:blip r:embed="rId2"/>
          <a:stretch>
            <a:fillRect/>
          </a:stretch>
        </p:blipFill>
        <p:spPr>
          <a:xfrm>
            <a:off x="5895728" y="2111871"/>
            <a:ext cx="200814" cy="160635"/>
          </a:xfrm>
          <a:prstGeom prst="rect">
            <a:avLst/>
          </a:prstGeom>
        </p:spPr>
      </p:pic>
      <p:sp>
        <p:nvSpPr>
          <p:cNvPr id="7" name="Text 3"/>
          <p:cNvSpPr/>
          <p:nvPr/>
        </p:nvSpPr>
        <p:spPr>
          <a:xfrm>
            <a:off x="6257173" y="2036862"/>
            <a:ext cx="5728251" cy="237728"/>
          </a:xfrm>
          <a:prstGeom prst="rect">
            <a:avLst/>
          </a:prstGeom>
          <a:noFill/>
          <a:ln/>
        </p:spPr>
        <p:txBody>
          <a:bodyPr wrap="none" lIns="0" tIns="0" rIns="0" bIns="0" rtlCol="0" anchor="t"/>
          <a:lstStyle/>
          <a:p>
            <a:pPr algn="l" indent="0" marL="0">
              <a:lnSpc>
                <a:spcPct val="123000"/>
              </a:lnSpc>
              <a:buNone/>
            </a:pPr>
            <a:r>
              <a:rPr lang="en-US" sz="1250" b="1" dirty="0">
                <a:solidFill>
                  <a:srgbClr val="FF9900"/>
                </a:solidFill>
                <a:latin typeface="Inter Bold" pitchFamily="34" charset="0"/>
                <a:ea typeface="Inter Bold" pitchFamily="34" charset="-122"/>
                <a:cs typeface="Inter Bold" pitchFamily="34" charset="-120"/>
              </a:rPr>
              <a:t>Top State:</a:t>
            </a:r>
            <a:pPr algn="l" indent="0" marL="0">
              <a:lnSpc>
                <a:spcPct val="123000"/>
              </a:lnSpc>
              <a:buNone/>
            </a:pPr>
            <a:r>
              <a:rPr lang="en-US" sz="1250" dirty="0">
                <a:solidFill>
                  <a:srgbClr val="000000"/>
                </a:solidFill>
                <a:latin typeface="Inter" pitchFamily="34" charset="0"/>
                <a:ea typeface="Inter" pitchFamily="34" charset="-122"/>
                <a:cs typeface="Inter" pitchFamily="34" charset="-120"/>
              </a:rPr>
              <a:t> Punjab | </a:t>
            </a:r>
            <a:pPr algn="l" indent="0" marL="0">
              <a:lnSpc>
                <a:spcPct val="123000"/>
              </a:lnSpc>
              <a:buNone/>
            </a:pPr>
            <a:r>
              <a:rPr lang="en-US" sz="1250" b="1" dirty="0">
                <a:solidFill>
                  <a:srgbClr val="0066CC"/>
                </a:solidFill>
                <a:latin typeface="Inter Bold" pitchFamily="34" charset="0"/>
                <a:ea typeface="Inter Bold" pitchFamily="34" charset="-122"/>
                <a:cs typeface="Inter Bold" pitchFamily="34" charset="-120"/>
              </a:rPr>
              <a:t>Transaction Volume:</a:t>
            </a:r>
            <a:pPr algn="l" indent="0" marL="0">
              <a:lnSpc>
                <a:spcPct val="123000"/>
              </a:lnSpc>
              <a:buNone/>
            </a:pPr>
            <a:r>
              <a:rPr lang="en-US" sz="1250" dirty="0">
                <a:solidFill>
                  <a:srgbClr val="000000"/>
                </a:solidFill>
                <a:latin typeface="Inter" pitchFamily="34" charset="0"/>
                <a:ea typeface="Inter" pitchFamily="34" charset="-122"/>
                <a:cs typeface="Inter" pitchFamily="34" charset="-120"/>
              </a:rPr>
              <a:t> ₹3.1B</a:t>
            </a:r>
            <a:endParaRPr lang="en-US" sz="1250" dirty="0"/>
          </a:p>
        </p:txBody>
      </p:sp>
      <p:sp>
        <p:nvSpPr>
          <p:cNvPr id="8" name="Text 4"/>
          <p:cNvSpPr/>
          <p:nvPr/>
        </p:nvSpPr>
        <p:spPr>
          <a:xfrm>
            <a:off x="5735097" y="2591098"/>
            <a:ext cx="5801374" cy="3336131"/>
          </a:xfrm>
          <a:prstGeom prst="rect">
            <a:avLst/>
          </a:prstGeom>
          <a:noFill/>
          <a:ln/>
        </p:spPr>
        <p:txBody>
          <a:bodyPr wrap="square" lIns="0" tIns="0" rIns="0" bIns="0" rtlCol="0" anchor="t">
            <a:normAutofit/>
          </a:bodyPr>
          <a:lstStyle/>
          <a:p>
            <a:pPr algn="l" indent="0" marL="0">
              <a:lnSpc>
                <a:spcPct val="123000"/>
              </a:lnSpc>
              <a:spcAft>
                <a:spcPts val="950"/>
              </a:spcAft>
              <a:buNone/>
            </a:pPr>
            <a:r>
              <a:rPr lang="en-US" sz="1250" dirty="0">
                <a:solidFill>
                  <a:srgbClr val="272525"/>
                </a:solidFill>
                <a:latin typeface="Inter" pitchFamily="34" charset="0"/>
                <a:ea typeface="Inter" pitchFamily="34" charset="-122"/>
                <a:cs typeface="Inter" pitchFamily="34" charset="-120"/>
              </a:rPr>
              <a:t>Transaction volume analysis reveals Punjab (₹3.1B) and Tamil Nadu (₹2.9B) as dominant transaction hubs, collectively accounting for 42% of total transaction activity. This concentration indicates strong distribution networks and investor engagement in these regions.</a:t>
            </a:r>
            <a:endParaRPr lang="en-US" sz="1250" dirty="0"/>
          </a:p>
          <a:p>
            <a:pPr algn="l" indent="0" marL="0">
              <a:lnSpc>
                <a:spcPct val="123000"/>
              </a:lnSpc>
              <a:spcAft>
                <a:spcPts val="950"/>
              </a:spcAft>
              <a:buNone/>
            </a:pPr>
            <a:r>
              <a:rPr lang="en-US" sz="1250" dirty="0">
                <a:solidFill>
                  <a:srgbClr val="272525"/>
                </a:solidFill>
                <a:latin typeface="Inter" pitchFamily="34" charset="0"/>
                <a:ea typeface="Inter" pitchFamily="34" charset="-122"/>
                <a:cs typeface="Inter" pitchFamily="34" charset="-120"/>
              </a:rPr>
              <a:t>The top 7 states represent 85% of transaction volume, suggesting efficient market penetration in key geographies. Transaction patterns reflect investor demographics, regional economic activity, and distribution channel effectiveness.</a:t>
            </a:r>
            <a:endParaRPr lang="en-US" sz="1250" dirty="0"/>
          </a:p>
          <a:p>
            <a:pPr algn="l" indent="0" marL="0">
              <a:lnSpc>
                <a:spcPct val="123000"/>
              </a:lnSpc>
              <a:buNone/>
            </a:pPr>
            <a:r>
              <a:rPr lang="en-US" sz="1250" dirty="0">
                <a:solidFill>
                  <a:srgbClr val="272525"/>
                </a:solidFill>
                <a:latin typeface="Inter" pitchFamily="34" charset="0"/>
                <a:ea typeface="Inter" pitchFamily="34" charset="-122"/>
                <a:cs typeface="Inter" pitchFamily="34" charset="-120"/>
              </a:rPr>
              <a:t>High transaction volumes in Punjab and Tamil Nadu validate these regions as strategic expansion bases, while lower-volume states present growth opportunities. This geographic concentration enables targeted marketing and distribution optimization to maximize market penetration and investor acquisition efficiency.</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646906"/>
            <a:ext cx="5315412" cy="3037780"/>
          </a:xfrm>
          <a:prstGeom prst="rect">
            <a:avLst/>
          </a:prstGeom>
        </p:spPr>
      </p:pic>
      <p:sp>
        <p:nvSpPr>
          <p:cNvPr id="3" name="Text 0"/>
          <p:cNvSpPr/>
          <p:nvPr/>
        </p:nvSpPr>
        <p:spPr>
          <a:xfrm>
            <a:off x="661475" y="3766245"/>
            <a:ext cx="3462648" cy="292795"/>
          </a:xfrm>
          <a:prstGeom prst="rect">
            <a:avLst/>
          </a:prstGeom>
          <a:noFill/>
          <a:ln/>
        </p:spPr>
        <p:txBody>
          <a:bodyPr wrap="none" lIns="0" tIns="0" rIns="0" bIns="0" rtlCol="0" anchor="t"/>
          <a:lstStyle/>
          <a:p>
            <a:pPr algn="l" indent="0" marL="0">
              <a:lnSpc>
                <a:spcPct val="104000"/>
              </a:lnSpc>
              <a:buNone/>
            </a:pPr>
            <a:r>
              <a:rPr lang="en-US" sz="1800" b="1" dirty="0">
                <a:solidFill>
                  <a:srgbClr val="0066CC"/>
                </a:solidFill>
                <a:latin typeface="Inter Bold" pitchFamily="34" charset="0"/>
                <a:ea typeface="Inter Bold" pitchFamily="34" charset="-122"/>
                <a:cs typeface="Inter Bold" pitchFamily="34" charset="-120"/>
              </a:rPr>
              <a:t>NAV Trend for Top Funds</a:t>
            </a:r>
            <a:endParaRPr lang="en-US" sz="1800" dirty="0"/>
          </a:p>
        </p:txBody>
      </p:sp>
      <p:sp>
        <p:nvSpPr>
          <p:cNvPr id="4" name="Text 1"/>
          <p:cNvSpPr/>
          <p:nvPr/>
        </p:nvSpPr>
        <p:spPr>
          <a:xfrm>
            <a:off x="661475" y="4131568"/>
            <a:ext cx="9805147" cy="151606"/>
          </a:xfrm>
          <a:prstGeom prst="rect">
            <a:avLst/>
          </a:prstGeom>
          <a:noFill/>
          <a:ln/>
        </p:spPr>
        <p:txBody>
          <a:bodyPr wrap="none" lIns="0" tIns="0" rIns="0" bIns="0" rtlCol="0" anchor="t"/>
          <a:lstStyle/>
          <a:p>
            <a:pPr algn="l" indent="0" marL="0">
              <a:lnSpc>
                <a:spcPct val="108000"/>
              </a:lnSpc>
              <a:buNone/>
            </a:pPr>
            <a:r>
              <a:rPr lang="en-US" sz="900" b="1" dirty="0">
                <a:solidFill>
                  <a:srgbClr val="00AA44"/>
                </a:solidFill>
                <a:latin typeface="Inter Bold" pitchFamily="34" charset="0"/>
                <a:ea typeface="Inter Bold" pitchFamily="34" charset="-122"/>
                <a:cs typeface="Inter Bold" pitchFamily="34" charset="-120"/>
              </a:rPr>
              <a:t>Monthly performance trajectory of leading funds</a:t>
            </a:r>
            <a:endParaRPr lang="en-US" sz="900" dirty="0"/>
          </a:p>
        </p:txBody>
      </p:sp>
      <p:sp>
        <p:nvSpPr>
          <p:cNvPr id="5" name="Shape 2"/>
          <p:cNvSpPr/>
          <p:nvPr/>
        </p:nvSpPr>
        <p:spPr>
          <a:xfrm>
            <a:off x="661475" y="4364732"/>
            <a:ext cx="9195562" cy="340717"/>
          </a:xfrm>
          <a:prstGeom prst="roundRect">
            <a:avLst>
              <a:gd name="adj" fmla="val 14435"/>
            </a:avLst>
          </a:prstGeom>
          <a:solidFill>
            <a:srgbClr val="DADBF1"/>
          </a:solidFill>
          <a:ln/>
        </p:spPr>
      </p:sp>
      <p:pic>
        <p:nvPicPr>
          <p:cNvPr id="6" name="Image 1" descr="preencoded.png">    </p:cNvPr>
          <p:cNvPicPr>
            <a:picLocks noChangeAspect="1"/>
          </p:cNvPicPr>
          <p:nvPr/>
        </p:nvPicPr>
        <p:blipFill>
          <a:blip r:embed="rId2"/>
          <a:stretch>
            <a:fillRect/>
          </a:stretch>
        </p:blipFill>
        <p:spPr>
          <a:xfrm>
            <a:off x="778550" y="4522887"/>
            <a:ext cx="146344" cy="117078"/>
          </a:xfrm>
          <a:prstGeom prst="rect">
            <a:avLst/>
          </a:prstGeom>
        </p:spPr>
      </p:pic>
      <p:sp>
        <p:nvSpPr>
          <p:cNvPr id="7" name="Text 3"/>
          <p:cNvSpPr/>
          <p:nvPr/>
        </p:nvSpPr>
        <p:spPr>
          <a:xfrm>
            <a:off x="1041969" y="4459288"/>
            <a:ext cx="9307577" cy="151606"/>
          </a:xfrm>
          <a:prstGeom prst="rect">
            <a:avLst/>
          </a:prstGeom>
          <a:noFill/>
          <a:ln/>
        </p:spPr>
        <p:txBody>
          <a:bodyPr wrap="none" lIns="0" tIns="0" rIns="0" bIns="0" rtlCol="0" anchor="t"/>
          <a:lstStyle/>
          <a:p>
            <a:pPr algn="l" indent="0" marL="0">
              <a:lnSpc>
                <a:spcPct val="108000"/>
              </a:lnSpc>
              <a:buNone/>
            </a:pPr>
            <a:r>
              <a:rPr lang="en-US" sz="900" dirty="0">
                <a:solidFill>
                  <a:srgbClr val="FF9900"/>
                </a:solidFill>
                <a:latin typeface="Inter" pitchFamily="34" charset="0"/>
                <a:ea typeface="Inter" pitchFamily="34" charset="-122"/>
                <a:cs typeface="Inter" pitchFamily="34" charset="-120"/>
              </a:rPr>
              <a:t>Growth Period: 2022-2026 | Best Performer: SBI Small Cap Fund</a:t>
            </a:r>
            <a:endParaRPr lang="en-US" sz="900" dirty="0"/>
          </a:p>
        </p:txBody>
      </p:sp>
      <p:sp>
        <p:nvSpPr>
          <p:cNvPr id="8" name="Text 4"/>
          <p:cNvSpPr/>
          <p:nvPr/>
        </p:nvSpPr>
        <p:spPr>
          <a:xfrm>
            <a:off x="661475" y="4787007"/>
            <a:ext cx="9195562" cy="909638"/>
          </a:xfrm>
          <a:prstGeom prst="rect">
            <a:avLst/>
          </a:prstGeom>
          <a:noFill/>
          <a:ln/>
        </p:spPr>
        <p:txBody>
          <a:bodyPr wrap="square" lIns="0" tIns="0" rIns="0" bIns="0" rtlCol="0" anchor="t">
            <a:normAutofit/>
          </a:bodyPr>
          <a:lstStyle/>
          <a:p>
            <a:pPr algn="l" indent="0" marL="0">
              <a:lnSpc>
                <a:spcPct val="108000"/>
              </a:lnSpc>
              <a:buNone/>
            </a:pPr>
            <a:r>
              <a:rPr lang="en-US" sz="900" dirty="0">
                <a:solidFill>
                  <a:srgbClr val="272525"/>
                </a:solidFill>
                <a:latin typeface="Inter" pitchFamily="34" charset="0"/>
                <a:ea typeface="Inter" pitchFamily="34" charset="-122"/>
                <a:cs typeface="Inter" pitchFamily="34" charset="-120"/>
              </a:rPr>
              <a:t>The NAV trend analysis spanning 2022-2026 reveals consistent upward momentum across top-performing funds, with SBI Small Cap Fund demonstrating the strongest growth trajectory. This sustained appreciation reflects effective fund management, favorable market conditions, and disciplined investment strategies. The monthly granularity captures market volatility and fund resilience, showing the portfolio's ability to navigate corrections and capitalize on recovery phases. Volatility patterns indicate normal market cycles rather than fundamental weakness, validating the portfolio's risk management framework. The consistent NAV growth across multiple fund categories demonstrates diversified performance drivers and reduces single-fund concentration risk. This trend reinforces investor confidence and validates the portfolio's long-term wealth creation potential.</a:t>
            </a:r>
            <a:endParaRPr lang="en-US" sz="900" dirty="0"/>
          </a:p>
        </p:txBody>
      </p:sp>
      <p:sp>
        <p:nvSpPr>
          <p:cNvPr id="9" name="Text 5"/>
          <p:cNvSpPr/>
          <p:nvPr/>
        </p:nvSpPr>
        <p:spPr>
          <a:xfrm>
            <a:off x="661475" y="5761930"/>
            <a:ext cx="9195562" cy="505420"/>
          </a:xfrm>
          <a:prstGeom prst="rect">
            <a:avLst/>
          </a:prstGeom>
          <a:noFill/>
          <a:ln/>
        </p:spPr>
        <p:txBody>
          <a:bodyPr wrap="square" lIns="0" tIns="0" rIns="0" bIns="0" rtlCol="0" anchor="t">
            <a:normAutofit/>
          </a:bodyPr>
          <a:lstStyle/>
          <a:p>
            <a:pPr algn="l" marL="182880" indent="-182880">
              <a:lnSpc>
                <a:spcPct val="108000"/>
              </a:lnSpc>
              <a:buSzPct val="100000"/>
              <a:buChar char="•"/>
            </a:pPr>
            <a:r>
              <a:rPr lang="en-US" sz="900" dirty="0">
                <a:solidFill>
                  <a:srgbClr val="272525"/>
                </a:solidFill>
                <a:latin typeface="Inter" pitchFamily="34" charset="0"/>
                <a:ea typeface="Inter" pitchFamily="34" charset="-122"/>
                <a:cs typeface="Inter" pitchFamily="34" charset="-120"/>
              </a:rPr>
              <a:t>Consistent upward trend across top AUM funds</a:t>
            </a:r>
            <a:endParaRPr lang="en-US" sz="900" dirty="0"/>
          </a:p>
          <a:p>
            <a:pPr algn="l" marL="182880" indent="-182880">
              <a:lnSpc>
                <a:spcPct val="108000"/>
              </a:lnSpc>
              <a:buSzPct val="100000"/>
              <a:buChar char="•"/>
            </a:pPr>
            <a:r>
              <a:rPr lang="en-US" sz="900" dirty="0">
                <a:solidFill>
                  <a:srgbClr val="272525"/>
                </a:solidFill>
                <a:latin typeface="Inter" pitchFamily="34" charset="0"/>
                <a:ea typeface="Inter" pitchFamily="34" charset="-122"/>
                <a:cs typeface="Inter" pitchFamily="34" charset="-120"/>
              </a:rPr>
              <a:t>SBI Small Cap Fund shows strongest growth momentum</a:t>
            </a:r>
            <a:endParaRPr lang="en-US" sz="900" dirty="0"/>
          </a:p>
          <a:p>
            <a:pPr algn="l" marL="182880" indent="-182880">
              <a:lnSpc>
                <a:spcPct val="108000"/>
              </a:lnSpc>
              <a:buSzPct val="100000"/>
              <a:buChar char="•"/>
            </a:pPr>
            <a:r>
              <a:rPr lang="en-US" sz="900" dirty="0">
                <a:solidFill>
                  <a:srgbClr val="272525"/>
                </a:solidFill>
                <a:latin typeface="Inter" pitchFamily="34" charset="0"/>
                <a:ea typeface="Inter" pitchFamily="34" charset="-122"/>
                <a:cs typeface="Inter" pitchFamily="34" charset="-120"/>
              </a:rPr>
              <a:t>Volatility patterns indicate market cycles and fund resilience</a:t>
            </a:r>
            <a:endParaRPr lang="en-US" sz="900" dirty="0"/>
          </a:p>
        </p:txBody>
      </p:sp>
      <p:sp>
        <p:nvSpPr>
          <p:cNvPr id="10" name="Text 6"/>
          <p:cNvSpPr/>
          <p:nvPr/>
        </p:nvSpPr>
        <p:spPr>
          <a:xfrm>
            <a:off x="10148931" y="630634"/>
            <a:ext cx="1997124" cy="151606"/>
          </a:xfrm>
          <a:prstGeom prst="rect">
            <a:avLst/>
          </a:prstGeom>
          <a:noFill/>
          <a:ln/>
        </p:spPr>
        <p:txBody>
          <a:bodyPr wrap="none" lIns="0" tIns="0" rIns="0" bIns="0" rtlCol="0" anchor="t"/>
          <a:lstStyle/>
          <a:p>
            <a:pPr algn="l" indent="0" marL="0">
              <a:lnSpc>
                <a:spcPct val="108000"/>
              </a:lnSpc>
              <a:buNone/>
            </a:pP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1161355"/>
            <a:ext cx="4862490" cy="531614"/>
          </a:xfrm>
          <a:prstGeom prst="rect">
            <a:avLst/>
          </a:prstGeom>
          <a:noFill/>
          <a:ln/>
        </p:spPr>
        <p:txBody>
          <a:bodyPr wrap="none" lIns="0" tIns="0" rIns="0" bIns="0" rtlCol="0" anchor="t"/>
          <a:lstStyle/>
          <a:p>
            <a:pPr algn="l" indent="0" marL="0">
              <a:lnSpc>
                <a:spcPct val="104000"/>
              </a:lnSpc>
              <a:buNone/>
            </a:pPr>
            <a:r>
              <a:rPr lang="en-US" sz="3300" b="1" dirty="0">
                <a:solidFill>
                  <a:srgbClr val="0066CC"/>
                </a:solidFill>
                <a:latin typeface="Inter Bold" pitchFamily="34" charset="0"/>
                <a:ea typeface="Inter Bold" pitchFamily="34" charset="-122"/>
                <a:cs typeface="Inter Bold" pitchFamily="34" charset="-120"/>
              </a:rPr>
              <a:t>Key Takeaways</a:t>
            </a:r>
            <a:endParaRPr lang="en-US" sz="3300" dirty="0"/>
          </a:p>
        </p:txBody>
      </p:sp>
      <p:sp>
        <p:nvSpPr>
          <p:cNvPr id="3" name="Text 1"/>
          <p:cNvSpPr/>
          <p:nvPr/>
        </p:nvSpPr>
        <p:spPr>
          <a:xfrm>
            <a:off x="661475" y="1846064"/>
            <a:ext cx="9221557" cy="258564"/>
          </a:xfrm>
          <a:prstGeom prst="rect">
            <a:avLst/>
          </a:prstGeom>
          <a:noFill/>
          <a:ln/>
        </p:spPr>
        <p:txBody>
          <a:bodyPr wrap="none" lIns="0" tIns="0" rIns="0" bIns="0" rtlCol="0" anchor="t"/>
          <a:lstStyle/>
          <a:p>
            <a:pPr algn="l" indent="0" marL="0">
              <a:lnSpc>
                <a:spcPct val="127000"/>
              </a:lnSpc>
              <a:buNone/>
            </a:pPr>
            <a:r>
              <a:rPr lang="en-US" sz="1300" b="1" dirty="0">
                <a:solidFill>
                  <a:srgbClr val="00AA44"/>
                </a:solidFill>
                <a:latin typeface="Inter Bold" pitchFamily="34" charset="0"/>
                <a:ea typeface="Inter Bold" pitchFamily="34" charset="-122"/>
                <a:cs typeface="Inter Bold" pitchFamily="34" charset="-120"/>
              </a:rPr>
              <a:t>Strategic insights from comprehensive fund analytics</a:t>
            </a:r>
            <a:endParaRPr lang="en-US" sz="1300" dirty="0"/>
          </a:p>
        </p:txBody>
      </p:sp>
      <p:sp>
        <p:nvSpPr>
          <p:cNvPr id="4" name="Text 2"/>
          <p:cNvSpPr/>
          <p:nvPr/>
        </p:nvSpPr>
        <p:spPr>
          <a:xfrm>
            <a:off x="9694719" y="1145977"/>
            <a:ext cx="2451336" cy="258564"/>
          </a:xfrm>
          <a:prstGeom prst="rect">
            <a:avLst/>
          </a:prstGeom>
          <a:noFill/>
          <a:ln/>
        </p:spPr>
        <p:txBody>
          <a:bodyPr wrap="none" lIns="0" tIns="0" rIns="0" bIns="0" rtlCol="0" anchor="t"/>
          <a:lstStyle/>
          <a:p>
            <a:pPr algn="l" indent="0" marL="0">
              <a:lnSpc>
                <a:spcPct val="127000"/>
              </a:lnSpc>
              <a:buNone/>
            </a:pPr>
            <a:endParaRPr lang="en-US" sz="1300" dirty="0"/>
          </a:p>
        </p:txBody>
      </p:sp>
      <p:sp>
        <p:nvSpPr>
          <p:cNvPr id="5" name="Text 3"/>
          <p:cNvSpPr/>
          <p:nvPr/>
        </p:nvSpPr>
        <p:spPr>
          <a:xfrm>
            <a:off x="661475" y="2414588"/>
            <a:ext cx="10868745" cy="517128"/>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272525"/>
                </a:solidFill>
                <a:latin typeface="Inter" pitchFamily="34" charset="0"/>
                <a:ea typeface="Inter" pitchFamily="34" charset="-122"/>
                <a:cs typeface="Inter" pitchFamily="34" charset="-120"/>
              </a:rPr>
              <a:t>Our comprehensive analysis reveals critical patterns in fund performance, investor behavior, and portfolio composition that inform strategic decision-making and validate the portfolio's institutional-grade management.</a:t>
            </a:r>
            <a:endParaRPr lang="en-US" sz="1300" dirty="0"/>
          </a:p>
        </p:txBody>
      </p:sp>
      <p:sp>
        <p:nvSpPr>
          <p:cNvPr id="6" name="Text 4"/>
          <p:cNvSpPr/>
          <p:nvPr/>
        </p:nvSpPr>
        <p:spPr>
          <a:xfrm>
            <a:off x="661475" y="3103959"/>
            <a:ext cx="340213" cy="212626"/>
          </a:xfrm>
          <a:prstGeom prst="rect">
            <a:avLst/>
          </a:prstGeom>
          <a:noFill/>
          <a:ln/>
        </p:spPr>
        <p:txBody>
          <a:bodyPr wrap="none" lIns="0" tIns="0" rIns="0" bIns="0" rtlCol="0" anchor="ctr"/>
          <a:lstStyle/>
          <a:p>
            <a:pPr algn="l" indent="0" marL="0">
              <a:lnSpc>
                <a:spcPct val="100000"/>
              </a:lnSpc>
              <a:buNone/>
            </a:pPr>
            <a:r>
              <a:rPr lang="en-US" sz="1300" dirty="0">
                <a:solidFill>
                  <a:srgbClr val="272525"/>
                </a:solidFill>
                <a:latin typeface="Inter Light" pitchFamily="34" charset="0"/>
                <a:ea typeface="Inter Light" pitchFamily="34" charset="-122"/>
                <a:cs typeface="Inter Light" pitchFamily="34" charset="-120"/>
              </a:rPr>
              <a:t>01</a:t>
            </a:r>
            <a:endParaRPr lang="en-US" sz="1300" dirty="0"/>
          </a:p>
        </p:txBody>
      </p:sp>
      <p:sp>
        <p:nvSpPr>
          <p:cNvPr id="7" name="Shape 5"/>
          <p:cNvSpPr/>
          <p:nvPr/>
        </p:nvSpPr>
        <p:spPr>
          <a:xfrm>
            <a:off x="661475" y="3373934"/>
            <a:ext cx="3520788" cy="19050"/>
          </a:xfrm>
          <a:prstGeom prst="rect">
            <a:avLst/>
          </a:prstGeom>
          <a:solidFill>
            <a:srgbClr val="4950BC"/>
          </a:solidFill>
          <a:ln/>
        </p:spPr>
      </p:sp>
      <p:sp>
        <p:nvSpPr>
          <p:cNvPr id="8" name="Text 6"/>
          <p:cNvSpPr/>
          <p:nvPr/>
        </p:nvSpPr>
        <p:spPr>
          <a:xfrm>
            <a:off x="661475" y="3497064"/>
            <a:ext cx="3520788" cy="775692"/>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0066CC"/>
                </a:solidFill>
                <a:latin typeface="Inter" pitchFamily="34" charset="0"/>
                <a:ea typeface="Inter" pitchFamily="34" charset="-122"/>
                <a:cs typeface="Inter" pitchFamily="34" charset="-120"/>
              </a:rPr>
              <a:t>Portfolio is strategically equity-weighted (82%) with defensive debt allocation (18%), optimizing risk-adjusted returns</a:t>
            </a:r>
            <a:endParaRPr lang="en-US" sz="1300" dirty="0"/>
          </a:p>
        </p:txBody>
      </p:sp>
      <p:sp>
        <p:nvSpPr>
          <p:cNvPr id="9" name="Text 7"/>
          <p:cNvSpPr/>
          <p:nvPr/>
        </p:nvSpPr>
        <p:spPr>
          <a:xfrm>
            <a:off x="4335354" y="3103959"/>
            <a:ext cx="340213" cy="212626"/>
          </a:xfrm>
          <a:prstGeom prst="rect">
            <a:avLst/>
          </a:prstGeom>
          <a:noFill/>
          <a:ln/>
        </p:spPr>
        <p:txBody>
          <a:bodyPr wrap="none" lIns="0" tIns="0" rIns="0" bIns="0" rtlCol="0" anchor="ctr"/>
          <a:lstStyle/>
          <a:p>
            <a:pPr algn="l" indent="0" marL="0">
              <a:lnSpc>
                <a:spcPct val="100000"/>
              </a:lnSpc>
              <a:buNone/>
            </a:pPr>
            <a:r>
              <a:rPr lang="en-US" sz="1300" dirty="0">
                <a:solidFill>
                  <a:srgbClr val="272525"/>
                </a:solidFill>
                <a:latin typeface="Inter Light" pitchFamily="34" charset="0"/>
                <a:ea typeface="Inter Light" pitchFamily="34" charset="-122"/>
                <a:cs typeface="Inter Light" pitchFamily="34" charset="-120"/>
              </a:rPr>
              <a:t>02</a:t>
            </a:r>
            <a:endParaRPr lang="en-US" sz="1300" dirty="0"/>
          </a:p>
        </p:txBody>
      </p:sp>
      <p:sp>
        <p:nvSpPr>
          <p:cNvPr id="10" name="Shape 8"/>
          <p:cNvSpPr/>
          <p:nvPr/>
        </p:nvSpPr>
        <p:spPr>
          <a:xfrm>
            <a:off x="4335354" y="3373934"/>
            <a:ext cx="3520888" cy="19050"/>
          </a:xfrm>
          <a:prstGeom prst="rect">
            <a:avLst/>
          </a:prstGeom>
          <a:solidFill>
            <a:srgbClr val="4950BC"/>
          </a:solidFill>
          <a:ln/>
        </p:spPr>
      </p:sp>
      <p:sp>
        <p:nvSpPr>
          <p:cNvPr id="11" name="Text 9"/>
          <p:cNvSpPr/>
          <p:nvPr/>
        </p:nvSpPr>
        <p:spPr>
          <a:xfrm>
            <a:off x="4335354" y="3497064"/>
            <a:ext cx="3520888" cy="775692"/>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00AA44"/>
                </a:solidFill>
                <a:latin typeface="Inter" pitchFamily="34" charset="0"/>
                <a:ea typeface="Inter" pitchFamily="34" charset="-122"/>
                <a:cs typeface="Inter" pitchFamily="34" charset="-120"/>
              </a:rPr>
              <a:t>Top 7 funds drive 78% of AUM, indicating concentration in flagship products with proven track records</a:t>
            </a:r>
            <a:endParaRPr lang="en-US" sz="1300" dirty="0"/>
          </a:p>
        </p:txBody>
      </p:sp>
      <p:sp>
        <p:nvSpPr>
          <p:cNvPr id="12" name="Text 10"/>
          <p:cNvSpPr/>
          <p:nvPr/>
        </p:nvSpPr>
        <p:spPr>
          <a:xfrm>
            <a:off x="8009332" y="3103959"/>
            <a:ext cx="340213" cy="212626"/>
          </a:xfrm>
          <a:prstGeom prst="rect">
            <a:avLst/>
          </a:prstGeom>
          <a:noFill/>
          <a:ln/>
        </p:spPr>
        <p:txBody>
          <a:bodyPr wrap="none" lIns="0" tIns="0" rIns="0" bIns="0" rtlCol="0" anchor="ctr"/>
          <a:lstStyle/>
          <a:p>
            <a:pPr algn="l" indent="0" marL="0">
              <a:lnSpc>
                <a:spcPct val="100000"/>
              </a:lnSpc>
              <a:buNone/>
            </a:pPr>
            <a:r>
              <a:rPr lang="en-US" sz="1300" dirty="0">
                <a:solidFill>
                  <a:srgbClr val="272525"/>
                </a:solidFill>
                <a:latin typeface="Inter Light" pitchFamily="34" charset="0"/>
                <a:ea typeface="Inter Light" pitchFamily="34" charset="-122"/>
                <a:cs typeface="Inter Light" pitchFamily="34" charset="-120"/>
              </a:rPr>
              <a:t>03</a:t>
            </a:r>
            <a:endParaRPr lang="en-US" sz="1300" dirty="0"/>
          </a:p>
        </p:txBody>
      </p:sp>
      <p:sp>
        <p:nvSpPr>
          <p:cNvPr id="13" name="Shape 11"/>
          <p:cNvSpPr/>
          <p:nvPr/>
        </p:nvSpPr>
        <p:spPr>
          <a:xfrm>
            <a:off x="8009332" y="3373934"/>
            <a:ext cx="3520888" cy="19050"/>
          </a:xfrm>
          <a:prstGeom prst="rect">
            <a:avLst/>
          </a:prstGeom>
          <a:solidFill>
            <a:srgbClr val="4950BC"/>
          </a:solidFill>
          <a:ln/>
        </p:spPr>
      </p:sp>
      <p:sp>
        <p:nvSpPr>
          <p:cNvPr id="14" name="Text 12"/>
          <p:cNvSpPr/>
          <p:nvPr/>
        </p:nvSpPr>
        <p:spPr>
          <a:xfrm>
            <a:off x="8009332" y="3497064"/>
            <a:ext cx="3520888" cy="1034256"/>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FF9900"/>
                </a:solidFill>
                <a:latin typeface="Inter" pitchFamily="34" charset="0"/>
                <a:ea typeface="Inter" pitchFamily="34" charset="-122"/>
                <a:cs typeface="Inter" pitchFamily="34" charset="-120"/>
              </a:rPr>
              <a:t>Geographic hotspots in Punjab, Tamil Nadu, and Madhya Pradesh demonstrate strong regional demand and distribution effectiveness</a:t>
            </a:r>
            <a:endParaRPr lang="en-US" sz="1300" dirty="0"/>
          </a:p>
        </p:txBody>
      </p:sp>
      <p:sp>
        <p:nvSpPr>
          <p:cNvPr id="15" name="Text 13"/>
          <p:cNvSpPr/>
          <p:nvPr/>
        </p:nvSpPr>
        <p:spPr>
          <a:xfrm>
            <a:off x="661475" y="4811911"/>
            <a:ext cx="340213" cy="212626"/>
          </a:xfrm>
          <a:prstGeom prst="rect">
            <a:avLst/>
          </a:prstGeom>
          <a:noFill/>
          <a:ln/>
        </p:spPr>
        <p:txBody>
          <a:bodyPr wrap="none" lIns="0" tIns="0" rIns="0" bIns="0" rtlCol="0" anchor="ctr"/>
          <a:lstStyle/>
          <a:p>
            <a:pPr algn="l" indent="0" marL="0">
              <a:lnSpc>
                <a:spcPct val="100000"/>
              </a:lnSpc>
              <a:buNone/>
            </a:pPr>
            <a:r>
              <a:rPr lang="en-US" sz="1300" dirty="0">
                <a:solidFill>
                  <a:srgbClr val="272525"/>
                </a:solidFill>
                <a:latin typeface="Inter Light" pitchFamily="34" charset="0"/>
                <a:ea typeface="Inter Light" pitchFamily="34" charset="-122"/>
                <a:cs typeface="Inter Light" pitchFamily="34" charset="-120"/>
              </a:rPr>
              <a:t>04</a:t>
            </a:r>
            <a:endParaRPr lang="en-US" sz="1300" dirty="0"/>
          </a:p>
        </p:txBody>
      </p:sp>
      <p:sp>
        <p:nvSpPr>
          <p:cNvPr id="16" name="Shape 14"/>
          <p:cNvSpPr/>
          <p:nvPr/>
        </p:nvSpPr>
        <p:spPr>
          <a:xfrm>
            <a:off x="661475" y="5081885"/>
            <a:ext cx="5357778" cy="19050"/>
          </a:xfrm>
          <a:prstGeom prst="rect">
            <a:avLst/>
          </a:prstGeom>
          <a:solidFill>
            <a:srgbClr val="4950BC"/>
          </a:solidFill>
          <a:ln/>
        </p:spPr>
      </p:sp>
      <p:sp>
        <p:nvSpPr>
          <p:cNvPr id="17" name="Text 15"/>
          <p:cNvSpPr/>
          <p:nvPr/>
        </p:nvSpPr>
        <p:spPr>
          <a:xfrm>
            <a:off x="661475" y="5205016"/>
            <a:ext cx="5357778" cy="517128"/>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0066CC"/>
                </a:solidFill>
                <a:latin typeface="Inter" pitchFamily="34" charset="0"/>
                <a:ea typeface="Inter" pitchFamily="34" charset="-122"/>
                <a:cs typeface="Inter" pitchFamily="34" charset="-120"/>
              </a:rPr>
              <a:t>Consistent NAV growth across top funds validates resilient fund performance and effective market navigation</a:t>
            </a:r>
            <a:endParaRPr lang="en-US" sz="1300" dirty="0"/>
          </a:p>
        </p:txBody>
      </p:sp>
      <p:sp>
        <p:nvSpPr>
          <p:cNvPr id="18" name="Text 16"/>
          <p:cNvSpPr/>
          <p:nvPr/>
        </p:nvSpPr>
        <p:spPr>
          <a:xfrm>
            <a:off x="6172343" y="4811911"/>
            <a:ext cx="340213" cy="212626"/>
          </a:xfrm>
          <a:prstGeom prst="rect">
            <a:avLst/>
          </a:prstGeom>
          <a:noFill/>
          <a:ln/>
        </p:spPr>
        <p:txBody>
          <a:bodyPr wrap="none" lIns="0" tIns="0" rIns="0" bIns="0" rtlCol="0" anchor="ctr"/>
          <a:lstStyle/>
          <a:p>
            <a:pPr algn="l" indent="0" marL="0">
              <a:lnSpc>
                <a:spcPct val="100000"/>
              </a:lnSpc>
              <a:buNone/>
            </a:pPr>
            <a:r>
              <a:rPr lang="en-US" sz="1300" dirty="0">
                <a:solidFill>
                  <a:srgbClr val="272525"/>
                </a:solidFill>
                <a:latin typeface="Inter Light" pitchFamily="34" charset="0"/>
                <a:ea typeface="Inter Light" pitchFamily="34" charset="-122"/>
                <a:cs typeface="Inter Light" pitchFamily="34" charset="-120"/>
              </a:rPr>
              <a:t>05</a:t>
            </a:r>
            <a:endParaRPr lang="en-US" sz="1300" dirty="0"/>
          </a:p>
        </p:txBody>
      </p:sp>
      <p:sp>
        <p:nvSpPr>
          <p:cNvPr id="19" name="Shape 17"/>
          <p:cNvSpPr/>
          <p:nvPr/>
        </p:nvSpPr>
        <p:spPr>
          <a:xfrm>
            <a:off x="6172343" y="5081885"/>
            <a:ext cx="5357877" cy="19050"/>
          </a:xfrm>
          <a:prstGeom prst="rect">
            <a:avLst/>
          </a:prstGeom>
          <a:solidFill>
            <a:srgbClr val="4950BC"/>
          </a:solidFill>
          <a:ln/>
        </p:spPr>
      </p:sp>
      <p:sp>
        <p:nvSpPr>
          <p:cNvPr id="20" name="Text 18"/>
          <p:cNvSpPr/>
          <p:nvPr/>
        </p:nvSpPr>
        <p:spPr>
          <a:xfrm>
            <a:off x="6172343" y="5205016"/>
            <a:ext cx="5357877" cy="517128"/>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00AA44"/>
                </a:solidFill>
                <a:latin typeface="Inter" pitchFamily="34" charset="0"/>
                <a:ea typeface="Inter" pitchFamily="34" charset="-122"/>
                <a:cs typeface="Inter" pitchFamily="34" charset="-120"/>
              </a:rPr>
              <a:t>Comprehensive risk management through volatility tracking, diversified fund offerings, and multi-asset allocation strategy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1011436"/>
            <a:ext cx="5770815" cy="413445"/>
          </a:xfrm>
          <a:prstGeom prst="rect">
            <a:avLst/>
          </a:prstGeom>
          <a:noFill/>
          <a:ln/>
        </p:spPr>
        <p:txBody>
          <a:bodyPr wrap="none" lIns="0" tIns="0" rIns="0" bIns="0" rtlCol="0" anchor="t"/>
          <a:lstStyle/>
          <a:p>
            <a:pPr algn="l" indent="0" marL="0">
              <a:lnSpc>
                <a:spcPct val="104000"/>
              </a:lnSpc>
              <a:buNone/>
            </a:pPr>
            <a:r>
              <a:rPr lang="en-US" sz="2600" b="1" dirty="0">
                <a:solidFill>
                  <a:srgbClr val="0066CC"/>
                </a:solidFill>
                <a:latin typeface="Inter Bold" pitchFamily="34" charset="0"/>
                <a:ea typeface="Inter Bold" pitchFamily="34" charset="-122"/>
                <a:cs typeface="Inter Bold" pitchFamily="34" charset="-120"/>
              </a:rPr>
              <a:t>Recommendations &amp; Next Steps</a:t>
            </a:r>
            <a:endParaRPr lang="en-US" sz="2600" dirty="0"/>
          </a:p>
        </p:txBody>
      </p:sp>
      <p:sp>
        <p:nvSpPr>
          <p:cNvPr id="3" name="Text 1"/>
          <p:cNvSpPr/>
          <p:nvPr/>
        </p:nvSpPr>
        <p:spPr>
          <a:xfrm>
            <a:off x="9620902" y="1002209"/>
            <a:ext cx="2525153" cy="179983"/>
          </a:xfrm>
          <a:prstGeom prst="rect">
            <a:avLst/>
          </a:prstGeom>
          <a:noFill/>
          <a:ln/>
        </p:spPr>
        <p:txBody>
          <a:bodyPr wrap="none" lIns="0" tIns="0" rIns="0" bIns="0" rtlCol="0" anchor="t"/>
          <a:lstStyle/>
          <a:p>
            <a:pPr algn="l" indent="0" marL="0">
              <a:lnSpc>
                <a:spcPct val="113000"/>
              </a:lnSpc>
              <a:buNone/>
            </a:pPr>
            <a:endParaRPr lang="en-US" sz="1000" dirty="0"/>
          </a:p>
        </p:txBody>
      </p:sp>
      <p:sp>
        <p:nvSpPr>
          <p:cNvPr id="4" name="Text 2"/>
          <p:cNvSpPr/>
          <p:nvPr/>
        </p:nvSpPr>
        <p:spPr>
          <a:xfrm>
            <a:off x="661475" y="1621631"/>
            <a:ext cx="264610" cy="165298"/>
          </a:xfrm>
          <a:prstGeom prst="rect">
            <a:avLst/>
          </a:prstGeom>
          <a:noFill/>
          <a:ln/>
        </p:spPr>
        <p:txBody>
          <a:bodyPr wrap="none" lIns="0" tIns="0" rIns="0" bIns="0" rtlCol="0" anchor="ctr"/>
          <a:lstStyle/>
          <a:p>
            <a:pPr algn="l" indent="0" marL="0">
              <a:lnSpc>
                <a:spcPct val="100000"/>
              </a:lnSpc>
              <a:buNone/>
            </a:pPr>
            <a:r>
              <a:rPr lang="en-US" sz="1000" dirty="0">
                <a:solidFill>
                  <a:srgbClr val="272525"/>
                </a:solidFill>
                <a:latin typeface="Inter Light" pitchFamily="34" charset="0"/>
                <a:ea typeface="Inter Light" pitchFamily="34" charset="-122"/>
                <a:cs typeface="Inter Light" pitchFamily="34" charset="-120"/>
              </a:rPr>
              <a:t>01</a:t>
            </a:r>
            <a:endParaRPr lang="en-US" sz="1000" dirty="0"/>
          </a:p>
        </p:txBody>
      </p:sp>
      <p:sp>
        <p:nvSpPr>
          <p:cNvPr id="5" name="Shape 3"/>
          <p:cNvSpPr/>
          <p:nvPr/>
        </p:nvSpPr>
        <p:spPr>
          <a:xfrm>
            <a:off x="661475" y="1827312"/>
            <a:ext cx="5388039" cy="19050"/>
          </a:xfrm>
          <a:prstGeom prst="rect">
            <a:avLst/>
          </a:prstGeom>
          <a:solidFill>
            <a:srgbClr val="0066CC"/>
          </a:solidFill>
          <a:ln/>
        </p:spPr>
      </p:sp>
      <p:sp>
        <p:nvSpPr>
          <p:cNvPr id="6" name="Text 4"/>
          <p:cNvSpPr/>
          <p:nvPr/>
        </p:nvSpPr>
        <p:spPr>
          <a:xfrm>
            <a:off x="661475" y="1931491"/>
            <a:ext cx="1759402" cy="206673"/>
          </a:xfrm>
          <a:prstGeom prst="rect">
            <a:avLst/>
          </a:prstGeom>
          <a:noFill/>
          <a:ln/>
        </p:spPr>
        <p:txBody>
          <a:bodyPr wrap="none" lIns="0" tIns="0" rIns="0" bIns="0" rtlCol="0" anchor="t"/>
          <a:lstStyle/>
          <a:p>
            <a:pPr algn="l" indent="0" marL="0">
              <a:lnSpc>
                <a:spcPct val="104000"/>
              </a:lnSpc>
              <a:buNone/>
            </a:pPr>
            <a:r>
              <a:rPr lang="en-US" sz="1300" b="1" dirty="0">
                <a:solidFill>
                  <a:srgbClr val="0066CC"/>
                </a:solidFill>
                <a:latin typeface="Inter Bold" pitchFamily="34" charset="0"/>
                <a:ea typeface="Inter Bold" pitchFamily="34" charset="-122"/>
                <a:cs typeface="Inter Bold" pitchFamily="34" charset="-120"/>
              </a:rPr>
              <a:t>Portfolio Optimization</a:t>
            </a:r>
            <a:endParaRPr lang="en-US" sz="1300" dirty="0"/>
          </a:p>
        </p:txBody>
      </p:sp>
      <p:sp>
        <p:nvSpPr>
          <p:cNvPr id="7" name="Text 5"/>
          <p:cNvSpPr/>
          <p:nvPr/>
        </p:nvSpPr>
        <p:spPr>
          <a:xfrm>
            <a:off x="661475" y="2193727"/>
            <a:ext cx="5388039" cy="539948"/>
          </a:xfrm>
          <a:prstGeom prst="rect">
            <a:avLst/>
          </a:prstGeom>
          <a:noFill/>
          <a:ln/>
        </p:spPr>
        <p:txBody>
          <a:bodyPr wrap="square" lIns="0" tIns="0" rIns="0" bIns="0" rtlCol="0" anchor="t">
            <a:normAutofit/>
          </a:bodyPr>
          <a:lstStyle/>
          <a:p>
            <a:pPr algn="l" indent="0" marL="0">
              <a:lnSpc>
                <a:spcPct val="113000"/>
              </a:lnSpc>
              <a:buNone/>
            </a:pPr>
            <a:r>
              <a:rPr lang="en-US" sz="1000" dirty="0">
                <a:solidFill>
                  <a:srgbClr val="272525"/>
                </a:solidFill>
                <a:latin typeface="Inter" pitchFamily="34" charset="0"/>
                <a:ea typeface="Inter" pitchFamily="34" charset="-122"/>
                <a:cs typeface="Inter" pitchFamily="34" charset="-120"/>
              </a:rPr>
              <a:t>Monitor concentration risk in the top 7 funds, which represent 78% of AUM; implement dynamic rebalancing strategies to maintain an optimal risk-return profile while preserving institutional-grade fund house relationships.</a:t>
            </a:r>
            <a:endParaRPr lang="en-US" sz="1000" dirty="0"/>
          </a:p>
        </p:txBody>
      </p:sp>
      <p:sp>
        <p:nvSpPr>
          <p:cNvPr id="8" name="Text 6"/>
          <p:cNvSpPr/>
          <p:nvPr/>
        </p:nvSpPr>
        <p:spPr>
          <a:xfrm>
            <a:off x="6142082" y="1621631"/>
            <a:ext cx="264610" cy="165298"/>
          </a:xfrm>
          <a:prstGeom prst="rect">
            <a:avLst/>
          </a:prstGeom>
          <a:noFill/>
          <a:ln/>
        </p:spPr>
        <p:txBody>
          <a:bodyPr wrap="none" lIns="0" tIns="0" rIns="0" bIns="0" rtlCol="0" anchor="ctr"/>
          <a:lstStyle/>
          <a:p>
            <a:pPr algn="l" indent="0" marL="0">
              <a:lnSpc>
                <a:spcPct val="100000"/>
              </a:lnSpc>
              <a:buNone/>
            </a:pPr>
            <a:r>
              <a:rPr lang="en-US" sz="1000" dirty="0">
                <a:solidFill>
                  <a:srgbClr val="272525"/>
                </a:solidFill>
                <a:latin typeface="Inter Light" pitchFamily="34" charset="0"/>
                <a:ea typeface="Inter Light" pitchFamily="34" charset="-122"/>
                <a:cs typeface="Inter Light" pitchFamily="34" charset="-120"/>
              </a:rPr>
              <a:t>02</a:t>
            </a:r>
            <a:endParaRPr lang="en-US" sz="1000" dirty="0"/>
          </a:p>
        </p:txBody>
      </p:sp>
      <p:sp>
        <p:nvSpPr>
          <p:cNvPr id="9" name="Shape 7"/>
          <p:cNvSpPr/>
          <p:nvPr/>
        </p:nvSpPr>
        <p:spPr>
          <a:xfrm>
            <a:off x="6142082" y="1827312"/>
            <a:ext cx="5388138" cy="19050"/>
          </a:xfrm>
          <a:prstGeom prst="rect">
            <a:avLst/>
          </a:prstGeom>
          <a:solidFill>
            <a:srgbClr val="00AA44"/>
          </a:solidFill>
          <a:ln/>
        </p:spPr>
      </p:sp>
      <p:sp>
        <p:nvSpPr>
          <p:cNvPr id="10" name="Text 8"/>
          <p:cNvSpPr/>
          <p:nvPr/>
        </p:nvSpPr>
        <p:spPr>
          <a:xfrm>
            <a:off x="6142082" y="1931491"/>
            <a:ext cx="1820321" cy="206673"/>
          </a:xfrm>
          <a:prstGeom prst="rect">
            <a:avLst/>
          </a:prstGeom>
          <a:noFill/>
          <a:ln/>
        </p:spPr>
        <p:txBody>
          <a:bodyPr wrap="none" lIns="0" tIns="0" rIns="0" bIns="0" rtlCol="0" anchor="t"/>
          <a:lstStyle/>
          <a:p>
            <a:pPr algn="l" indent="0" marL="0">
              <a:lnSpc>
                <a:spcPct val="104000"/>
              </a:lnSpc>
              <a:buNone/>
            </a:pPr>
            <a:r>
              <a:rPr lang="en-US" sz="1300" b="1" dirty="0">
                <a:solidFill>
                  <a:srgbClr val="00AA44"/>
                </a:solidFill>
                <a:latin typeface="Inter Bold" pitchFamily="34" charset="0"/>
                <a:ea typeface="Inter Bold" pitchFamily="34" charset="-122"/>
                <a:cs typeface="Inter Bold" pitchFamily="34" charset="-120"/>
              </a:rPr>
              <a:t>Geographic Expansion</a:t>
            </a:r>
            <a:endParaRPr lang="en-US" sz="1300" dirty="0"/>
          </a:p>
        </p:txBody>
      </p:sp>
      <p:sp>
        <p:nvSpPr>
          <p:cNvPr id="11" name="Text 9"/>
          <p:cNvSpPr/>
          <p:nvPr/>
        </p:nvSpPr>
        <p:spPr>
          <a:xfrm>
            <a:off x="6142082" y="2193727"/>
            <a:ext cx="5388138" cy="539948"/>
          </a:xfrm>
          <a:prstGeom prst="rect">
            <a:avLst/>
          </a:prstGeom>
          <a:noFill/>
          <a:ln/>
        </p:spPr>
        <p:txBody>
          <a:bodyPr wrap="square" lIns="0" tIns="0" rIns="0" bIns="0" rtlCol="0" anchor="t">
            <a:normAutofit/>
          </a:bodyPr>
          <a:lstStyle/>
          <a:p>
            <a:pPr algn="l" indent="0" marL="0">
              <a:lnSpc>
                <a:spcPct val="113000"/>
              </a:lnSpc>
              <a:buNone/>
            </a:pPr>
            <a:r>
              <a:rPr lang="en-US" sz="1000" dirty="0">
                <a:solidFill>
                  <a:srgbClr val="272525"/>
                </a:solidFill>
                <a:latin typeface="Inter" pitchFamily="34" charset="0"/>
                <a:ea typeface="Inter" pitchFamily="34" charset="-122"/>
                <a:cs typeface="Inter" pitchFamily="34" charset="-120"/>
              </a:rPr>
              <a:t>Leverage Punjab and Tamil Nadu as distribution models; deploy targeted marketing in underperforming states such as Maharashtra and Karnataka to achieve a 25% improvement in geographic diversification within 12 months.</a:t>
            </a:r>
            <a:endParaRPr lang="en-US" sz="1000" dirty="0"/>
          </a:p>
        </p:txBody>
      </p:sp>
      <p:sp>
        <p:nvSpPr>
          <p:cNvPr id="12" name="Text 10"/>
          <p:cNvSpPr/>
          <p:nvPr/>
        </p:nvSpPr>
        <p:spPr>
          <a:xfrm>
            <a:off x="661475" y="2925465"/>
            <a:ext cx="264610" cy="165298"/>
          </a:xfrm>
          <a:prstGeom prst="rect">
            <a:avLst/>
          </a:prstGeom>
          <a:noFill/>
          <a:ln/>
        </p:spPr>
        <p:txBody>
          <a:bodyPr wrap="none" lIns="0" tIns="0" rIns="0" bIns="0" rtlCol="0" anchor="ctr"/>
          <a:lstStyle/>
          <a:p>
            <a:pPr algn="l" indent="0" marL="0">
              <a:lnSpc>
                <a:spcPct val="100000"/>
              </a:lnSpc>
              <a:buNone/>
            </a:pPr>
            <a:r>
              <a:rPr lang="en-US" sz="1000" dirty="0">
                <a:solidFill>
                  <a:srgbClr val="272525"/>
                </a:solidFill>
                <a:latin typeface="Inter Light" pitchFamily="34" charset="0"/>
                <a:ea typeface="Inter Light" pitchFamily="34" charset="-122"/>
                <a:cs typeface="Inter Light" pitchFamily="34" charset="-120"/>
              </a:rPr>
              <a:t>03</a:t>
            </a:r>
            <a:endParaRPr lang="en-US" sz="1000" dirty="0"/>
          </a:p>
        </p:txBody>
      </p:sp>
      <p:sp>
        <p:nvSpPr>
          <p:cNvPr id="13" name="Shape 11"/>
          <p:cNvSpPr/>
          <p:nvPr/>
        </p:nvSpPr>
        <p:spPr>
          <a:xfrm>
            <a:off x="661475" y="3131145"/>
            <a:ext cx="5388039" cy="19050"/>
          </a:xfrm>
          <a:prstGeom prst="rect">
            <a:avLst/>
          </a:prstGeom>
          <a:solidFill>
            <a:srgbClr val="FF9900"/>
          </a:solidFill>
          <a:ln/>
        </p:spPr>
      </p:sp>
      <p:sp>
        <p:nvSpPr>
          <p:cNvPr id="14" name="Text 12"/>
          <p:cNvSpPr/>
          <p:nvPr/>
        </p:nvSpPr>
        <p:spPr>
          <a:xfrm>
            <a:off x="661475" y="3235325"/>
            <a:ext cx="1653836" cy="206673"/>
          </a:xfrm>
          <a:prstGeom prst="rect">
            <a:avLst/>
          </a:prstGeom>
          <a:noFill/>
          <a:ln/>
        </p:spPr>
        <p:txBody>
          <a:bodyPr wrap="none" lIns="0" tIns="0" rIns="0" bIns="0" rtlCol="0" anchor="t"/>
          <a:lstStyle/>
          <a:p>
            <a:pPr algn="l" indent="0" marL="0">
              <a:lnSpc>
                <a:spcPct val="104000"/>
              </a:lnSpc>
              <a:buNone/>
            </a:pPr>
            <a:r>
              <a:rPr lang="en-US" sz="1300" b="1" dirty="0">
                <a:solidFill>
                  <a:srgbClr val="FF9900"/>
                </a:solidFill>
                <a:latin typeface="Inter Bold" pitchFamily="34" charset="0"/>
                <a:ea typeface="Inter Bold" pitchFamily="34" charset="-122"/>
                <a:cs typeface="Inter Bold" pitchFamily="34" charset="-120"/>
              </a:rPr>
              <a:t>Risk Management</a:t>
            </a:r>
            <a:endParaRPr lang="en-US" sz="1300" dirty="0"/>
          </a:p>
        </p:txBody>
      </p:sp>
      <p:sp>
        <p:nvSpPr>
          <p:cNvPr id="15" name="Text 13"/>
          <p:cNvSpPr/>
          <p:nvPr/>
        </p:nvSpPr>
        <p:spPr>
          <a:xfrm>
            <a:off x="661475" y="3497560"/>
            <a:ext cx="5388039" cy="539948"/>
          </a:xfrm>
          <a:prstGeom prst="rect">
            <a:avLst/>
          </a:prstGeom>
          <a:noFill/>
          <a:ln/>
        </p:spPr>
        <p:txBody>
          <a:bodyPr wrap="square" lIns="0" tIns="0" rIns="0" bIns="0" rtlCol="0" anchor="t">
            <a:normAutofit/>
          </a:bodyPr>
          <a:lstStyle/>
          <a:p>
            <a:pPr algn="l" indent="0" marL="0">
              <a:lnSpc>
                <a:spcPct val="113000"/>
              </a:lnSpc>
              <a:buNone/>
            </a:pPr>
            <a:r>
              <a:rPr lang="en-US" sz="1000" dirty="0">
                <a:solidFill>
                  <a:srgbClr val="272525"/>
                </a:solidFill>
                <a:latin typeface="Inter" pitchFamily="34" charset="0"/>
                <a:ea typeface="Inter" pitchFamily="34" charset="-122"/>
                <a:cs typeface="Inter" pitchFamily="34" charset="-120"/>
              </a:rPr>
              <a:t>Implement real-time volatility monitoring for funds exceeding 15% standard deviation; establish automated rebalancing triggers to maintain the 82-18 equity-debt allocation within a ±2% tolerance band.</a:t>
            </a:r>
            <a:endParaRPr lang="en-US" sz="1000" dirty="0"/>
          </a:p>
        </p:txBody>
      </p:sp>
      <p:sp>
        <p:nvSpPr>
          <p:cNvPr id="16" name="Text 14"/>
          <p:cNvSpPr/>
          <p:nvPr/>
        </p:nvSpPr>
        <p:spPr>
          <a:xfrm>
            <a:off x="6142082" y="2925465"/>
            <a:ext cx="264610" cy="165298"/>
          </a:xfrm>
          <a:prstGeom prst="rect">
            <a:avLst/>
          </a:prstGeom>
          <a:noFill/>
          <a:ln/>
        </p:spPr>
        <p:txBody>
          <a:bodyPr wrap="none" lIns="0" tIns="0" rIns="0" bIns="0" rtlCol="0" anchor="ctr"/>
          <a:lstStyle/>
          <a:p>
            <a:pPr algn="l" indent="0" marL="0">
              <a:lnSpc>
                <a:spcPct val="100000"/>
              </a:lnSpc>
              <a:buNone/>
            </a:pPr>
            <a:r>
              <a:rPr lang="en-US" sz="1000" dirty="0">
                <a:solidFill>
                  <a:srgbClr val="272525"/>
                </a:solidFill>
                <a:latin typeface="Inter Light" pitchFamily="34" charset="0"/>
                <a:ea typeface="Inter Light" pitchFamily="34" charset="-122"/>
                <a:cs typeface="Inter Light" pitchFamily="34" charset="-120"/>
              </a:rPr>
              <a:t>04</a:t>
            </a:r>
            <a:endParaRPr lang="en-US" sz="1000" dirty="0"/>
          </a:p>
        </p:txBody>
      </p:sp>
      <p:sp>
        <p:nvSpPr>
          <p:cNvPr id="17" name="Shape 15"/>
          <p:cNvSpPr/>
          <p:nvPr/>
        </p:nvSpPr>
        <p:spPr>
          <a:xfrm>
            <a:off x="6142082" y="3131145"/>
            <a:ext cx="5388138" cy="19050"/>
          </a:xfrm>
          <a:prstGeom prst="rect">
            <a:avLst/>
          </a:prstGeom>
          <a:solidFill>
            <a:srgbClr val="0066CC"/>
          </a:solidFill>
          <a:ln/>
        </p:spPr>
      </p:sp>
      <p:sp>
        <p:nvSpPr>
          <p:cNvPr id="18" name="Text 16"/>
          <p:cNvSpPr/>
          <p:nvPr/>
        </p:nvSpPr>
        <p:spPr>
          <a:xfrm>
            <a:off x="6142082" y="3235325"/>
            <a:ext cx="1719815" cy="206673"/>
          </a:xfrm>
          <a:prstGeom prst="rect">
            <a:avLst/>
          </a:prstGeom>
          <a:noFill/>
          <a:ln/>
        </p:spPr>
        <p:txBody>
          <a:bodyPr wrap="none" lIns="0" tIns="0" rIns="0" bIns="0" rtlCol="0" anchor="t"/>
          <a:lstStyle/>
          <a:p>
            <a:pPr algn="l" indent="0" marL="0">
              <a:lnSpc>
                <a:spcPct val="104000"/>
              </a:lnSpc>
              <a:buNone/>
            </a:pPr>
            <a:r>
              <a:rPr lang="en-US" sz="1300" b="1" dirty="0">
                <a:solidFill>
                  <a:srgbClr val="0066CC"/>
                </a:solidFill>
                <a:latin typeface="Inter Bold" pitchFamily="34" charset="0"/>
                <a:ea typeface="Inter Bold" pitchFamily="34" charset="-122"/>
                <a:cs typeface="Inter Bold" pitchFamily="34" charset="-120"/>
              </a:rPr>
              <a:t>Investor Engagement</a:t>
            </a:r>
            <a:endParaRPr lang="en-US" sz="1300" dirty="0"/>
          </a:p>
        </p:txBody>
      </p:sp>
      <p:sp>
        <p:nvSpPr>
          <p:cNvPr id="19" name="Text 17"/>
          <p:cNvSpPr/>
          <p:nvPr/>
        </p:nvSpPr>
        <p:spPr>
          <a:xfrm>
            <a:off x="6142082" y="3497560"/>
            <a:ext cx="5388138" cy="539948"/>
          </a:xfrm>
          <a:prstGeom prst="rect">
            <a:avLst/>
          </a:prstGeom>
          <a:noFill/>
          <a:ln/>
        </p:spPr>
        <p:txBody>
          <a:bodyPr wrap="square" lIns="0" tIns="0" rIns="0" bIns="0" rtlCol="0" anchor="t">
            <a:normAutofit/>
          </a:bodyPr>
          <a:lstStyle/>
          <a:p>
            <a:pPr algn="l" indent="0" marL="0">
              <a:lnSpc>
                <a:spcPct val="113000"/>
              </a:lnSpc>
              <a:buNone/>
            </a:pPr>
            <a:r>
              <a:rPr lang="en-US" sz="1000" dirty="0">
                <a:solidFill>
                  <a:srgbClr val="272525"/>
                </a:solidFill>
                <a:latin typeface="Inter" pitchFamily="34" charset="0"/>
                <a:ea typeface="Inter" pitchFamily="34" charset="-122"/>
                <a:cs typeface="Inter" pitchFamily="34" charset="-120"/>
              </a:rPr>
              <a:t>Develop state-specific campaigns leveraging regional economic data; increase SIP adoption from 6.17% to 15% through education initiatives and digital engagement platforms.</a:t>
            </a:r>
            <a:endParaRPr lang="en-US" sz="1000" dirty="0"/>
          </a:p>
        </p:txBody>
      </p:sp>
      <p:sp>
        <p:nvSpPr>
          <p:cNvPr id="20" name="Shape 18"/>
          <p:cNvSpPr/>
          <p:nvPr/>
        </p:nvSpPr>
        <p:spPr>
          <a:xfrm>
            <a:off x="661475" y="4273947"/>
            <a:ext cx="10868745" cy="19050"/>
          </a:xfrm>
          <a:prstGeom prst="roundRect">
            <a:avLst>
              <a:gd name="adj" fmla="val 59999"/>
            </a:avLst>
          </a:prstGeom>
          <a:solidFill>
            <a:srgbClr val="272525">
              <a:alpha val="50000"/>
            </a:srgbClr>
          </a:solidFill>
          <a:ln/>
        </p:spPr>
      </p:sp>
      <p:sp>
        <p:nvSpPr>
          <p:cNvPr id="21" name="Text 19"/>
          <p:cNvSpPr/>
          <p:nvPr/>
        </p:nvSpPr>
        <p:spPr>
          <a:xfrm>
            <a:off x="661475" y="4464943"/>
            <a:ext cx="2263421" cy="206673"/>
          </a:xfrm>
          <a:prstGeom prst="rect">
            <a:avLst/>
          </a:prstGeom>
          <a:noFill/>
          <a:ln/>
        </p:spPr>
        <p:txBody>
          <a:bodyPr wrap="none" lIns="0" tIns="0" rIns="0" bIns="0" rtlCol="0" anchor="t"/>
          <a:lstStyle/>
          <a:p>
            <a:pPr algn="l" indent="0" marL="0">
              <a:lnSpc>
                <a:spcPct val="104000"/>
              </a:lnSpc>
              <a:buNone/>
            </a:pPr>
            <a:r>
              <a:rPr lang="en-US" sz="1300" b="1" dirty="0">
                <a:solidFill>
                  <a:srgbClr val="0066CC"/>
                </a:solidFill>
                <a:latin typeface="Inter Bold" pitchFamily="34" charset="0"/>
                <a:ea typeface="Inter Bold" pitchFamily="34" charset="-122"/>
                <a:cs typeface="Inter Bold" pitchFamily="34" charset="-120"/>
              </a:rPr>
              <a:t>Contact &amp; Support</a:t>
            </a:r>
            <a:endParaRPr lang="en-US" sz="1300" dirty="0"/>
          </a:p>
        </p:txBody>
      </p:sp>
      <p:sp>
        <p:nvSpPr>
          <p:cNvPr id="22" name="Text 20"/>
          <p:cNvSpPr/>
          <p:nvPr/>
        </p:nvSpPr>
        <p:spPr>
          <a:xfrm>
            <a:off x="661475" y="4810522"/>
            <a:ext cx="11478330" cy="179983"/>
          </a:xfrm>
          <a:prstGeom prst="rect">
            <a:avLst/>
          </a:prstGeom>
          <a:noFill/>
          <a:ln/>
        </p:spPr>
        <p:txBody>
          <a:bodyPr wrap="none" lIns="0" tIns="0" rIns="0" bIns="0" rtlCol="0" anchor="t"/>
          <a:lstStyle/>
          <a:p>
            <a:pPr algn="l" indent="0" marL="0">
              <a:lnSpc>
                <a:spcPct val="113000"/>
              </a:lnSpc>
              <a:buNone/>
            </a:pPr>
            <a:r>
              <a:rPr lang="en-US" sz="1000" dirty="0">
                <a:solidFill>
                  <a:srgbClr val="272525"/>
                </a:solidFill>
                <a:latin typeface="Inter" pitchFamily="34" charset="0"/>
                <a:ea typeface="Inter" pitchFamily="34" charset="-122"/>
                <a:cs typeface="Inter" pitchFamily="34" charset="-120"/>
              </a:rPr>
              <a:t>For implementation guidance and strategic consultation, contact the analytics team.</a:t>
            </a:r>
            <a:endParaRPr lang="en-US" sz="1000" dirty="0"/>
          </a:p>
        </p:txBody>
      </p:sp>
      <p:sp>
        <p:nvSpPr>
          <p:cNvPr id="23" name="Text 21"/>
          <p:cNvSpPr/>
          <p:nvPr/>
        </p:nvSpPr>
        <p:spPr>
          <a:xfrm>
            <a:off x="661475" y="5129411"/>
            <a:ext cx="2263421" cy="206673"/>
          </a:xfrm>
          <a:prstGeom prst="rect">
            <a:avLst/>
          </a:prstGeom>
          <a:noFill/>
          <a:ln/>
        </p:spPr>
        <p:txBody>
          <a:bodyPr wrap="none" lIns="0" tIns="0" rIns="0" bIns="0" rtlCol="0" anchor="t"/>
          <a:lstStyle/>
          <a:p>
            <a:pPr algn="l" indent="0" marL="0">
              <a:lnSpc>
                <a:spcPct val="104000"/>
              </a:lnSpc>
              <a:buNone/>
            </a:pPr>
            <a:r>
              <a:rPr lang="en-US" sz="1300" b="1" dirty="0">
                <a:solidFill>
                  <a:srgbClr val="00AA44"/>
                </a:solidFill>
                <a:latin typeface="Inter Bold" pitchFamily="34" charset="0"/>
                <a:ea typeface="Inter Bold" pitchFamily="34" charset="-122"/>
                <a:cs typeface="Inter Bold" pitchFamily="34" charset="-120"/>
              </a:rPr>
              <a:t>Report Generated</a:t>
            </a:r>
            <a:endParaRPr lang="en-US" sz="1300" dirty="0"/>
          </a:p>
        </p:txBody>
      </p:sp>
      <p:sp>
        <p:nvSpPr>
          <p:cNvPr id="24" name="Text 22"/>
          <p:cNvSpPr/>
          <p:nvPr/>
        </p:nvSpPr>
        <p:spPr>
          <a:xfrm>
            <a:off x="661475" y="5474990"/>
            <a:ext cx="10868745" cy="464145"/>
          </a:xfrm>
          <a:prstGeom prst="rect">
            <a:avLst/>
          </a:prstGeom>
          <a:noFill/>
          <a:ln/>
        </p:spPr>
        <p:txBody>
          <a:bodyPr wrap="square" lIns="0" tIns="0" rIns="0" bIns="0" rtlCol="0" anchor="t"/>
          <a:lstStyle/>
          <a:p>
            <a:pPr algn="l" indent="0" marL="0">
              <a:lnSpc>
                <a:spcPct val="113000"/>
              </a:lnSpc>
              <a:spcAft>
                <a:spcPts val="800"/>
              </a:spcAft>
              <a:buNone/>
            </a:pPr>
            <a:r>
              <a:rPr lang="en-US" sz="1000" dirty="0">
                <a:solidFill>
                  <a:srgbClr val="272525"/>
                </a:solidFill>
                <a:latin typeface="Inter" pitchFamily="34" charset="0"/>
                <a:ea typeface="Inter" pitchFamily="34" charset="-122"/>
                <a:cs typeface="Inter" pitchFamily="34" charset="-120"/>
              </a:rPr>
              <a:t>Date: July 4, 2026 | Data Period: 2022-2026 | Next Review: Q3 2026</a:t>
            </a:r>
            <a:endParaRPr lang="en-US" sz="1000" dirty="0"/>
          </a:p>
          <a:p>
            <a:pPr algn="l" indent="0" marL="0">
              <a:lnSpc>
                <a:spcPct val="113000"/>
              </a:lnSpc>
              <a:buNone/>
            </a:pPr>
            <a:r>
              <a:rPr lang="en-US" sz="1000" i="1" dirty="0">
                <a:solidFill>
                  <a:srgbClr val="272525"/>
                </a:solidFill>
                <a:latin typeface="Inter" pitchFamily="34" charset="0"/>
                <a:ea typeface="Inter" pitchFamily="34" charset="-122"/>
                <a:cs typeface="Inter" pitchFamily="34" charset="-120"/>
              </a:rPr>
              <a:t>Confidentiality Notice: This report contains proprietary analysis and institutional-grade insights. Treat as confidential.</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2026-07-03T21:10:33Z</dcterms:created>
  <dcterms:modified xsi:type="dcterms:W3CDTF">2026-07-03T21:10:33Z</dcterms:modified>
</cp:coreProperties>
</file>